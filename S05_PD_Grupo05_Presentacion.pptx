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181D"/>
                </a:solidFill>
                <a:latin typeface="Calibri"/>
              </a:defRPr>
            </a:pPr>
            <a:r>
              <a:rPr sz="1300" b="0" i="0" u="none" strike="noStrike">
                <a:solidFill>
                  <a:srgbClr val="16181D"/>
                </a:solidFill>
                <a:latin typeface="Calibri"/>
              </a:rPr>
              <a:t>Suma de registros afectados por los problemas de cada dimensión, en miles</a:t>
            </a:r>
          </a:p>
        </c:rich>
      </c:tx>
      <c:layout/>
      <c:overlay val="0"/>
    </c:title>
    <c:autoTitleDeleted val="0"/>
    <c:plotArea>
      <c:layout/>
      <c:barChart>
        <c:barDir val="bar"/>
        <c:grouping val="clustered"/>
        <c:varyColors val="0"/>
        <c:ser>
          <c:idx val="0"/>
          <c:order val="0"/>
          <c:tx>
            <c:strRef>
              <c:f>Sheet1!$B$1</c:f>
              <c:strCache>
                <c:ptCount val="1"/>
                <c:pt idx="0">
                  <c:v>Registros afectados</c:v>
                </c:pt>
              </c:strCache>
            </c:strRef>
          </c:tx>
          <c:spPr>
            <a:solidFill>
              <a:srgbClr val="1E2761"/>
            </a:solidFill>
            <a:effectLst/>
          </c:spPr>
          <c:invertIfNegative val="0"/>
          <c:dLbls>
            <c:numFmt formatCode="0" sourceLinked="0"/>
            <c:txPr>
              <a:bodyPr/>
              <a:lstStyle/>
              <a:p>
                <a:pPr>
                  <a:defRPr b="1" i="0" strike="noStrike" sz="1100" u="none">
                    <a:solidFill>
                      <a:srgbClr val="16181D"/>
                    </a:solidFill>
                    <a:latin typeface="Calibri"/>
                  </a:defRPr>
                </a:pPr>
              </a:p>
            </c:txPr>
            <c:showLegendKey val="0"/>
            <c:showVal val="1"/>
            <c:showCatName val="0"/>
            <c:showSerName val="0"/>
            <c:showPercent val="0"/>
            <c:showBubbleSize val="0"/>
            <c:showLeaderLines val="0"/>
          </c:dLbls>
          <c:cat>
            <c:multiLvlStrRef>
              <c:f>Sheet1!$A$2:$A$7</c:f>
              <c:multiLvlStrCache>
                <c:ptCount val="6"/>
                <c:lvl>
                  <c:pt idx="0">
                    <c:v>Unicidad</c:v>
                  </c:pt>
                  <c:pt idx="1">
                    <c:v>Validez</c:v>
                  </c:pt>
                  <c:pt idx="2">
                    <c:v>Completitud</c:v>
                  </c:pt>
                  <c:pt idx="3">
                    <c:v>Oportunidad</c:v>
                  </c:pt>
                  <c:pt idx="4">
                    <c:v>Consistencia</c:v>
                  </c:pt>
                  <c:pt idx="5">
                    <c:v>Exactitud</c:v>
                  </c:pt>
                </c:lvl>
              </c:multiLvlStrCache>
            </c:multiLvlStrRef>
          </c:cat>
          <c:val>
            <c:numRef>
              <c:f>Sheet1!$B$2:$B$7</c:f>
              <c:numCache>
                <c:formatCode>General</c:formatCode>
                <c:ptCount val="6"/>
                <c:pt idx="0">
                  <c:v>20</c:v>
                </c:pt>
                <c:pt idx="1">
                  <c:v>74</c:v>
                </c:pt>
                <c:pt idx="2">
                  <c:v>321</c:v>
                </c:pt>
                <c:pt idx="3">
                  <c:v>770</c:v>
                </c:pt>
                <c:pt idx="4">
                  <c:v>1042</c:v>
                </c:pt>
                <c:pt idx="5">
                  <c:v>1613</c:v>
                </c:pt>
              </c:numCache>
            </c:numRef>
          </c:val>
        </c:ser>
        <c:dLbls>
          <c:numFmt formatCode="0" sourceLinked="0"/>
          <c:txPr>
            <a:bodyPr/>
            <a:lstStyle/>
            <a:p>
              <a:pPr>
                <a:defRPr b="1" i="0" strike="noStrike" sz="1100" u="none">
                  <a:solidFill>
                    <a:srgbClr val="16181D"/>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B7684"/>
                </a:solidFill>
                <a:latin typeface="Calibri"/>
              </a:defRPr>
            </a:pPr>
            <a:endParaRPr lang="en-US"/>
          </a:p>
        </c:txPr>
        <c:crossAx val="2094734552"/>
        <c:crosses val="autoZero"/>
        <c:auto val="1"/>
        <c:lblAlgn val="ctr"/>
        <c:noMultiLvlLbl val="1"/>
      </c:catAx>
      <c:valAx>
        <c:axId val="2094734552"/>
        <c:scaling>
          <c:orientation val="minMax"/>
          <c:max val="190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B7684"/>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del archivo</c:v>
                </c:pt>
              </c:strCache>
            </c:strRef>
          </c:tx>
          <c:spPr>
            <a:solidFill>
              <a:srgbClr val="1E2761"/>
            </a:solidFill>
            <a:effectLst/>
          </c:spPr>
          <c:invertIfNegative val="0"/>
          <c:dLbls>
            <c:numFmt formatCode="0.0&quot;%&quot;" sourceLinked="0"/>
            <c:txPr>
              <a:bodyPr/>
              <a:lstStyle/>
              <a:p>
                <a:pPr>
                  <a:defRPr b="1" i="0" strike="noStrike" sz="1100" u="none">
                    <a:solidFill>
                      <a:srgbClr val="16181D"/>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Stock anterior al pedido</c:v>
                  </c:pt>
                  <c:pt idx="1">
                    <c:v>Correo faltante</c:v>
                  </c:pt>
                  <c:pt idx="2">
                    <c:v>Escritura de metodo_pago</c:v>
                  </c:pt>
                  <c:pt idx="3">
                    <c:v>Escritura de canal_compra</c:v>
                  </c:pt>
                  <c:pt idx="4">
                    <c:v>Fuga que alterna</c:v>
                  </c:pt>
                  <c:pt idx="5">
                    <c:v>Escritura de categoría</c:v>
                  </c:pt>
                  <c:pt idx="6">
                    <c:v>Escritura de ciudad</c:v>
                  </c:pt>
                  <c:pt idx="7">
                    <c:v>Separación pedido-stock</c:v>
                  </c:pt>
                  <c:pt idx="8">
                    <c:v>Correo transaccional</c:v>
                  </c:pt>
                  <c:pt idx="9">
                    <c:v>Edad incoherente</c:v>
                  </c:pt>
                </c:lvl>
              </c:multiLvlStrCache>
            </c:multiLvlStrRef>
          </c:cat>
          <c:val>
            <c:numRef>
              <c:f>Sheet1!$B$2:$B$11</c:f>
              <c:numCache>
                <c:formatCode>General</c:formatCode>
                <c:ptCount val="10"/>
                <c:pt idx="0">
                  <c:v>16.07</c:v>
                </c:pt>
                <c:pt idx="1">
                  <c:v>16.46</c:v>
                </c:pt>
                <c:pt idx="2">
                  <c:v>20.21</c:v>
                </c:pt>
                <c:pt idx="3">
                  <c:v>24.18</c:v>
                </c:pt>
                <c:pt idx="4">
                  <c:v>40.56</c:v>
                </c:pt>
                <c:pt idx="5">
                  <c:v>47.61</c:v>
                </c:pt>
                <c:pt idx="6">
                  <c:v>49.2</c:v>
                </c:pt>
                <c:pt idx="7">
                  <c:v>65.94</c:v>
                </c:pt>
                <c:pt idx="8">
                  <c:v>83.55</c:v>
                </c:pt>
                <c:pt idx="9">
                  <c:v>97.26</c:v>
                </c:pt>
              </c:numCache>
            </c:numRef>
          </c:val>
        </c:ser>
        <c:dLbls>
          <c:numFmt formatCode="0.0&quot;%&quot;" sourceLinked="0"/>
          <c:txPr>
            <a:bodyPr/>
            <a:lstStyle/>
            <a:p>
              <a:pPr>
                <a:defRPr b="1" i="0" strike="noStrike" sz="1100" u="none">
                  <a:solidFill>
                    <a:srgbClr val="16181D"/>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6B7684"/>
                </a:solidFill>
                <a:latin typeface="Calibri"/>
              </a:defRPr>
            </a:pPr>
            <a:endParaRPr lang="en-US"/>
          </a:p>
        </c:txPr>
        <c:crossAx val="2094734552"/>
        <c:crosses val="autoZero"/>
        <c:auto val="1"/>
        <c:lblAlgn val="ctr"/>
        <c:noMultiLvlLbl val="1"/>
      </c:catAx>
      <c:valAx>
        <c:axId val="2094734552"/>
        <c:scaling>
          <c:orientation val="minMax"/>
          <c:max val="118"/>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B7684"/>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181D"/>
                </a:solidFill>
                <a:latin typeface="Calibri"/>
              </a:defRPr>
            </a:pPr>
            <a:r>
              <a:rPr sz="1300" b="0" i="0" u="none" strike="noStrike">
                <a:solidFill>
                  <a:srgbClr val="16181D"/>
                </a:solidFill>
                <a:latin typeface="Calibri"/>
              </a:rPr>
              <a:t>Variantes de escritura frente a valores reales</a:t>
            </a:r>
          </a:p>
        </c:rich>
      </c:tx>
      <c:layout/>
      <c:overlay val="0"/>
    </c:title>
    <c:autoTitleDeleted val="0"/>
    <c:plotArea>
      <c:layout/>
      <c:barChart>
        <c:barDir val="bar"/>
        <c:grouping val="clustered"/>
        <c:varyColors val="0"/>
        <c:ser>
          <c:idx val="0"/>
          <c:order val="0"/>
          <c:tx>
            <c:strRef>
              <c:f>Sheet1!$B$1</c:f>
              <c:strCache>
                <c:ptCount val="1"/>
                <c:pt idx="0">
                  <c:v>Variantes en el archivo</c:v>
                </c:pt>
              </c:strCache>
            </c:strRef>
          </c:tx>
          <c:spPr>
            <a:solidFill>
              <a:srgbClr val="C0392B"/>
            </a:solidFill>
            <a:effectLst/>
          </c:spPr>
          <c:invertIfNegative val="0"/>
          <c:dLbls>
            <c:numFmt formatCode="#,##0" sourceLinked="0"/>
            <c:txPr>
              <a:bodyPr/>
              <a:lstStyle/>
              <a:p>
                <a:pPr>
                  <a:defRPr b="1" i="0" strike="noStrike" sz="1100" u="none">
                    <a:solidFill>
                      <a:srgbClr val="16181D"/>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ciudad_tienda</c:v>
                  </c:pt>
                  <c:pt idx="1">
                    <c:v>categoria_producto</c:v>
                  </c:pt>
                  <c:pt idx="2">
                    <c:v>canal_compra</c:v>
                  </c:pt>
                  <c:pt idx="3">
                    <c:v>metodo_pago</c:v>
                  </c:pt>
                  <c:pt idx="4">
                    <c:v>nivel_satisfaccion</c:v>
                  </c:pt>
                </c:lvl>
              </c:multiLvlStrCache>
            </c:multiLvlStrRef>
          </c:cat>
          <c:val>
            <c:numRef>
              <c:f>Sheet1!$B$2:$B$6</c:f>
              <c:numCache>
                <c:formatCode>General</c:formatCode>
                <c:ptCount val="5"/>
                <c:pt idx="0">
                  <c:v>88</c:v>
                </c:pt>
                <c:pt idx="1">
                  <c:v>32</c:v>
                </c:pt>
                <c:pt idx="2">
                  <c:v>20</c:v>
                </c:pt>
                <c:pt idx="3">
                  <c:v>20</c:v>
                </c:pt>
                <c:pt idx="4">
                  <c:v>15</c:v>
                </c:pt>
              </c:numCache>
            </c:numRef>
          </c:val>
        </c:ser>
        <c:ser>
          <c:idx val="1"/>
          <c:order val="1"/>
          <c:tx>
            <c:strRef>
              <c:f>Sheet1!$C$1</c:f>
              <c:strCache>
                <c:ptCount val="1"/>
                <c:pt idx="0">
                  <c:v>Valores reales</c:v>
                </c:pt>
              </c:strCache>
            </c:strRef>
          </c:tx>
          <c:spPr>
            <a:solidFill>
              <a:srgbClr val="1E2761"/>
            </a:solidFill>
            <a:effectLst/>
          </c:spPr>
          <c:invertIfNegative val="0"/>
          <c:dLbls>
            <c:numFmt formatCode="#,##0" sourceLinked="0"/>
            <c:txPr>
              <a:bodyPr/>
              <a:lstStyle/>
              <a:p>
                <a:pPr>
                  <a:defRPr b="1" i="0" strike="noStrike" sz="1100" u="none">
                    <a:solidFill>
                      <a:srgbClr val="16181D"/>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ciudad_tienda</c:v>
                  </c:pt>
                  <c:pt idx="1">
                    <c:v>categoria_producto</c:v>
                  </c:pt>
                  <c:pt idx="2">
                    <c:v>canal_compra</c:v>
                  </c:pt>
                  <c:pt idx="3">
                    <c:v>metodo_pago</c:v>
                  </c:pt>
                  <c:pt idx="4">
                    <c:v>nivel_satisfaccion</c:v>
                  </c:pt>
                </c:lvl>
              </c:multiLvlStrCache>
            </c:multiLvlStrRef>
          </c:cat>
          <c:val>
            <c:numRef>
              <c:f>Sheet1!$C$2:$C$6</c:f>
              <c:numCache>
                <c:formatCode>General</c:formatCode>
                <c:ptCount val="5"/>
                <c:pt idx="0">
                  <c:v>12</c:v>
                </c:pt>
                <c:pt idx="1">
                  <c:v>6</c:v>
                </c:pt>
                <c:pt idx="2">
                  <c:v>4</c:v>
                </c:pt>
                <c:pt idx="3">
                  <c:v>4</c:v>
                </c:pt>
                <c:pt idx="4">
                  <c:v>3</c:v>
                </c:pt>
              </c:numCache>
            </c:numRef>
          </c:val>
        </c:ser>
        <c:dLbls>
          <c:numFmt formatCode="#,##0" sourceLinked="0"/>
          <c:txPr>
            <a:bodyPr/>
            <a:lstStyle/>
            <a:p>
              <a:pPr>
                <a:defRPr b="1" i="0" strike="noStrike" sz="1100" u="none">
                  <a:solidFill>
                    <a:srgbClr val="16181D"/>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B7684"/>
                </a:solidFill>
                <a:latin typeface="Calibri"/>
              </a:defRPr>
            </a:pPr>
            <a:endParaRPr lang="en-US"/>
          </a:p>
        </c:txPr>
        <c:crossAx val="2094734552"/>
        <c:crosses val="autoZero"/>
        <c:auto val="1"/>
        <c:lblAlgn val="ctr"/>
        <c:noMultiLvlLbl val="1"/>
      </c:catAx>
      <c:valAx>
        <c:axId val="2094734552"/>
        <c:scaling>
          <c:orientation val="minMax"/>
          <c:max val="105"/>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B7684"/>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6B768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181D"/>
                </a:solidFill>
                <a:latin typeface="Calibri"/>
              </a:defRPr>
            </a:pPr>
            <a:r>
              <a:rPr sz="1300" b="0" i="0" u="none" strike="noStrike">
                <a:solidFill>
                  <a:srgbClr val="16181D"/>
                </a:solidFill>
                <a:latin typeface="Calibri"/>
              </a:rPr>
              <a:t>Rango de edad observado dentro de un mismo cliente</a:t>
            </a:r>
          </a:p>
        </c:rich>
      </c:tx>
      <c:layout/>
      <c:overlay val="0"/>
    </c:title>
    <c:autoTitleDeleted val="0"/>
    <c:plotArea>
      <c:layout/>
      <c:barChart>
        <c:barDir val="col"/>
        <c:grouping val="clustered"/>
        <c:varyColors val="0"/>
        <c:ser>
          <c:idx val="0"/>
          <c:order val="0"/>
          <c:tx>
            <c:strRef>
              <c:f>Sheet1!$B$1</c:f>
              <c:strCache>
                <c:ptCount val="1"/>
                <c:pt idx="0">
                  <c:v>Clientes</c:v>
                </c:pt>
              </c:strCache>
            </c:strRef>
          </c:tx>
          <c:spPr>
            <a:solidFill>
              <a:srgbClr val="1E2761"/>
            </a:solidFill>
            <a:effectLst/>
          </c:spPr>
          <c:invertIfNegative val="0"/>
          <c:dLbls>
            <c:numFmt formatCode="0" sourceLinked="0"/>
            <c:txPr>
              <a:bodyPr/>
              <a:lstStyle/>
              <a:p>
                <a:pPr>
                  <a:defRPr b="1" i="0" strike="noStrike" sz="1100" u="none">
                    <a:solidFill>
                      <a:srgbClr val="16181D"/>
                    </a:solidFill>
                    <a:latin typeface="Calibri"/>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C0392B"/>
              </a:solidFill>
              <a:effectLst/>
            </c:spPr>
          </c:dPt>
          <c:dPt>
            <c:idx val="2"/>
            <c:invertIfNegative val="0"/>
            <c:bubble3D val="0"/>
            <c:spPr>
              <a:solidFill>
                <a:srgbClr val="C0392B"/>
              </a:solidFill>
              <a:effectLst/>
            </c:spPr>
          </c:dPt>
          <c:dPt>
            <c:idx val="3"/>
            <c:invertIfNegative val="0"/>
            <c:bubble3D val="0"/>
            <c:spPr>
              <a:solidFill>
                <a:srgbClr val="C0392B"/>
              </a:solidFill>
              <a:effectLst/>
            </c:spPr>
          </c:dPt>
          <c:dPt>
            <c:idx val="4"/>
            <c:invertIfNegative val="0"/>
            <c:bubble3D val="0"/>
            <c:spPr>
              <a:solidFill>
                <a:srgbClr val="C0392B"/>
              </a:solidFill>
              <a:effectLst/>
            </c:spPr>
          </c:dPt>
          <c:dPt>
            <c:idx val="5"/>
            <c:invertIfNegative val="0"/>
            <c:bubble3D val="0"/>
            <c:spPr>
              <a:solidFill>
                <a:srgbClr val="C0392B"/>
              </a:solidFill>
              <a:effectLst/>
            </c:spPr>
          </c:dPt>
          <c:dPt>
            <c:idx val="6"/>
            <c:invertIfNegative val="0"/>
            <c:bubble3D val="0"/>
            <c:spPr>
              <a:solidFill>
                <a:srgbClr val="C0392B"/>
              </a:solidFill>
              <a:effectLst/>
            </c:spPr>
          </c:dPt>
          <c:dPt>
            <c:idx val="7"/>
            <c:invertIfNegative val="0"/>
            <c:bubble3D val="0"/>
            <c:spPr>
              <a:solidFill>
                <a:srgbClr val="C0392B"/>
              </a:solidFill>
              <a:effectLst/>
            </c:spPr>
          </c:dPt>
          <c:cat>
            <c:multiLvlStrRef>
              <c:f>Sheet1!$A$2:$A$9</c:f>
              <c:multiLvlStrCache>
                <c:ptCount val="8"/>
                <c:lvl>
                  <c:pt idx="0">
                    <c:v>0 a 3 años</c:v>
                  </c:pt>
                  <c:pt idx="1">
                    <c:v>4 a 10 años</c:v>
                  </c:pt>
                  <c:pt idx="2">
                    <c:v>11 a 20 años</c:v>
                  </c:pt>
                  <c:pt idx="3">
                    <c:v>21 a 30 años</c:v>
                  </c:pt>
                  <c:pt idx="4">
                    <c:v>31 a 40 años</c:v>
                  </c:pt>
                  <c:pt idx="5">
                    <c:v>41 a 50 años</c:v>
                  </c:pt>
                  <c:pt idx="6">
                    <c:v>51 a 60 años</c:v>
                  </c:pt>
                  <c:pt idx="7">
                    <c:v>más de 60 años</c:v>
                  </c:pt>
                </c:lvl>
              </c:multiLvlStrCache>
            </c:multiLvlStrRef>
          </c:cat>
          <c:val>
            <c:numRef>
              <c:f>Sheet1!$B$2:$B$9</c:f>
              <c:numCache>
                <c:formatCode>General</c:formatCode>
                <c:ptCount val="8"/>
                <c:pt idx="0">
                  <c:v>3023</c:v>
                </c:pt>
                <c:pt idx="1">
                  <c:v>6702</c:v>
                </c:pt>
                <c:pt idx="2">
                  <c:v>14148</c:v>
                </c:pt>
                <c:pt idx="3">
                  <c:v>20763</c:v>
                </c:pt>
                <c:pt idx="4">
                  <c:v>27513</c:v>
                </c:pt>
                <c:pt idx="5">
                  <c:v>29199</c:v>
                </c:pt>
                <c:pt idx="6">
                  <c:v>12957</c:v>
                </c:pt>
                <c:pt idx="7">
                  <c:v>26802</c:v>
                </c:pt>
              </c:numCache>
            </c:numRef>
          </c:val>
        </c:ser>
        <c:dLbls>
          <c:numFmt formatCode="0" sourceLinked="0"/>
          <c:txPr>
            <a:bodyPr/>
            <a:lstStyle/>
            <a:p>
              <a:pPr>
                <a:defRPr b="1" i="0" strike="noStrike" sz="1100" u="none">
                  <a:solidFill>
                    <a:srgbClr val="16181D"/>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B7684"/>
                </a:solidFill>
                <a:latin typeface="Calibri"/>
              </a:defRPr>
            </a:pPr>
            <a:endParaRPr lang="en-US"/>
          </a:p>
        </c:txPr>
        <c:crossAx val="2094734552"/>
        <c:crosses val="autoZero"/>
        <c:auto val="1"/>
        <c:lblAlgn val="ctr"/>
        <c:noMultiLvlLbl val="1"/>
      </c:catAx>
      <c:valAx>
        <c:axId val="2094734552"/>
        <c:scaling>
          <c:orientation val="minMax"/>
          <c:max val="34000"/>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6B7684"/>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181D"/>
                </a:solidFill>
                <a:latin typeface="Calibri"/>
              </a:defRPr>
            </a:pPr>
            <a:r>
              <a:rPr sz="1300" b="0" i="0" u="none" strike="noStrike">
                <a:solidFill>
                  <a:srgbClr val="16181D"/>
                </a:solidFill>
                <a:latin typeface="Calibri"/>
              </a:rPr>
              <a:t>Porcentaje de valores faltantes por columna</a:t>
            </a:r>
          </a:p>
        </c:rich>
      </c:tx>
      <c:layout/>
      <c:overlay val="0"/>
    </c:title>
    <c:autoTitleDeleted val="0"/>
    <c:plotArea>
      <c:layout/>
      <c:barChart>
        <c:barDir val="bar"/>
        <c:grouping val="clustered"/>
        <c:varyColors val="0"/>
        <c:ser>
          <c:idx val="0"/>
          <c:order val="0"/>
          <c:tx>
            <c:strRef>
              <c:f>Sheet1!$B$1</c:f>
              <c:strCache>
                <c:ptCount val="1"/>
                <c:pt idx="0">
                  <c:v>% faltante</c:v>
                </c:pt>
              </c:strCache>
            </c:strRef>
          </c:tx>
          <c:spPr>
            <a:solidFill>
              <a:srgbClr val="1E2761"/>
            </a:solidFill>
            <a:effectLst/>
          </c:spPr>
          <c:invertIfNegative val="0"/>
          <c:dLbls>
            <c:numFmt formatCode="0.00&quot;%&quot;" sourceLinked="0"/>
            <c:txPr>
              <a:bodyPr/>
              <a:lstStyle/>
              <a:p>
                <a:pPr>
                  <a:defRPr b="1" i="0" strike="noStrike" sz="1100" u="none">
                    <a:solidFill>
                      <a:srgbClr val="16181D"/>
                    </a:solidFill>
                    <a:latin typeface="Calibri"/>
                  </a:defRPr>
                </a:pPr>
              </a:p>
            </c:txPr>
            <c:showLegendKey val="0"/>
            <c:showVal val="1"/>
            <c:showCatName val="0"/>
            <c:showSerName val="0"/>
            <c:showPercent val="0"/>
            <c:showBubbleSize val="0"/>
            <c:showLeaderLines val="0"/>
          </c:dLbls>
          <c:cat>
            <c:multiLvlStrRef>
              <c:f>Sheet1!$A$2:$A$8</c:f>
              <c:multiLvlStrCache>
                <c:ptCount val="7"/>
                <c:lvl>
                  <c:pt idx="0">
                    <c:v>correo_cliente</c:v>
                  </c:pt>
                  <c:pt idx="1">
                    <c:v>comentario_cliente</c:v>
                  </c:pt>
                  <c:pt idx="2">
                    <c:v>nivel_satisfaccion</c:v>
                  </c:pt>
                  <c:pt idx="3">
                    <c:v>ciudad_tienda</c:v>
                  </c:pt>
                  <c:pt idx="4">
                    <c:v>precio_unitario</c:v>
                  </c:pt>
                  <c:pt idx="5">
                    <c:v>monto_compra</c:v>
                  </c:pt>
                  <c:pt idx="6">
                    <c:v>fecha_pedido</c:v>
                  </c:pt>
                </c:lvl>
              </c:multiLvlStrCache>
            </c:multiLvlStrRef>
          </c:cat>
          <c:val>
            <c:numRef>
              <c:f>Sheet1!$B$2:$B$8</c:f>
              <c:numCache>
                <c:formatCode>General</c:formatCode>
                <c:ptCount val="7"/>
                <c:pt idx="0">
                  <c:v>16.45</c:v>
                </c:pt>
                <c:pt idx="1">
                  <c:v>14.19</c:v>
                </c:pt>
                <c:pt idx="2">
                  <c:v>7.26</c:v>
                </c:pt>
                <c:pt idx="3">
                  <c:v>4.68</c:v>
                </c:pt>
                <c:pt idx="4">
                  <c:v>3.39</c:v>
                </c:pt>
                <c:pt idx="5">
                  <c:v>3.39</c:v>
                </c:pt>
                <c:pt idx="6">
                  <c:v>0.89</c:v>
                </c:pt>
              </c:numCache>
            </c:numRef>
          </c:val>
        </c:ser>
        <c:dLbls>
          <c:numFmt formatCode="0.00&quot;%&quot;" sourceLinked="0"/>
          <c:txPr>
            <a:bodyPr/>
            <a:lstStyle/>
            <a:p>
              <a:pPr>
                <a:defRPr b="1" i="0" strike="noStrike" sz="1100" u="none">
                  <a:solidFill>
                    <a:srgbClr val="16181D"/>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B7684"/>
                </a:solidFill>
                <a:latin typeface="Calibri"/>
              </a:defRPr>
            </a:pPr>
            <a:endParaRPr lang="en-US"/>
          </a:p>
        </c:txPr>
        <c:crossAx val="2094734552"/>
        <c:crosses val="autoZero"/>
        <c:auto val="1"/>
        <c:lblAlgn val="ctr"/>
        <c:noMultiLvlLbl val="1"/>
      </c:catAx>
      <c:valAx>
        <c:axId val="2094734552"/>
        <c:scaling>
          <c:orientation val="minMax"/>
          <c:max val="21"/>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B7684"/>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181D"/>
                </a:solidFill>
                <a:latin typeface="Calibri"/>
              </a:defRPr>
            </a:pPr>
            <a:r>
              <a:rPr sz="1300" b="0" i="0" u="none" strike="noStrike">
                <a:solidFill>
                  <a:srgbClr val="16181D"/>
                </a:solidFill>
                <a:latin typeface="Calibri"/>
              </a:rPr>
              <a:t>Ausencia de nivel_satisfaccion según canal de compra</a:t>
            </a:r>
          </a:p>
        </c:rich>
      </c:tx>
      <c:layout/>
      <c:overlay val="0"/>
    </c:title>
    <c:autoTitleDeleted val="0"/>
    <c:plotArea>
      <c:layout/>
      <c:barChart>
        <c:barDir val="col"/>
        <c:grouping val="clustered"/>
        <c:varyColors val="0"/>
        <c:ser>
          <c:idx val="0"/>
          <c:order val="0"/>
          <c:tx>
            <c:strRef>
              <c:f>Sheet1!$B$1</c:f>
              <c:strCache>
                <c:ptCount val="1"/>
                <c:pt idx="0">
                  <c:v>% de nivel_satisfaccion faltante</c:v>
                </c:pt>
              </c:strCache>
            </c:strRef>
          </c:tx>
          <c:spPr>
            <a:solidFill>
              <a:srgbClr val="C0392B"/>
            </a:solidFill>
            <a:effectLst/>
          </c:spPr>
          <c:invertIfNegative val="0"/>
          <c:dLbls>
            <c:numFmt formatCode="0.00&quot;%&quot;" sourceLinked="0"/>
            <c:txPr>
              <a:bodyPr/>
              <a:lstStyle/>
              <a:p>
                <a:pPr>
                  <a:defRPr b="1" i="0" strike="noStrike" sz="1100" u="none">
                    <a:solidFill>
                      <a:srgbClr val="16181D"/>
                    </a:solidFill>
                    <a:latin typeface="Calibri"/>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1E2761"/>
              </a:solidFill>
              <a:effectLst/>
            </c:spPr>
          </c:dPt>
          <c:dPt>
            <c:idx val="2"/>
            <c:invertIfNegative val="0"/>
            <c:bubble3D val="0"/>
            <c:spPr>
              <a:solidFill>
                <a:srgbClr val="1E2761"/>
              </a:solidFill>
              <a:effectLst/>
            </c:spPr>
          </c:dPt>
          <c:dPt>
            <c:idx val="3"/>
            <c:invertIfNegative val="0"/>
            <c:bubble3D val="0"/>
            <c:spPr>
              <a:solidFill>
                <a:srgbClr val="1E2761"/>
              </a:solidFill>
              <a:effectLst/>
            </c:spPr>
          </c:dPt>
          <c:cat>
            <c:multiLvlStrRef>
              <c:f>Sheet1!$A$2:$A$5</c:f>
              <c:multiLvlStrCache>
                <c:ptCount val="4"/>
                <c:lvl>
                  <c:pt idx="0">
                    <c:v>App</c:v>
                  </c:pt>
                  <c:pt idx="1">
                    <c:v>Tienda</c:v>
                  </c:pt>
                  <c:pt idx="2">
                    <c:v>Marketplace</c:v>
                  </c:pt>
                  <c:pt idx="3">
                    <c:v>Web</c:v>
                  </c:pt>
                </c:lvl>
              </c:multiLvlStrCache>
            </c:multiLvlStrRef>
          </c:cat>
          <c:val>
            <c:numRef>
              <c:f>Sheet1!$B$2:$B$5</c:f>
              <c:numCache>
                <c:formatCode>General</c:formatCode>
                <c:ptCount val="4"/>
                <c:pt idx="0">
                  <c:v>20.34</c:v>
                </c:pt>
                <c:pt idx="1">
                  <c:v>2.97</c:v>
                </c:pt>
                <c:pt idx="2">
                  <c:v>2.93</c:v>
                </c:pt>
                <c:pt idx="3">
                  <c:v>2.83</c:v>
                </c:pt>
              </c:numCache>
            </c:numRef>
          </c:val>
        </c:ser>
        <c:dLbls>
          <c:numFmt formatCode="0.00&quot;%&quot;" sourceLinked="0"/>
          <c:txPr>
            <a:bodyPr/>
            <a:lstStyle/>
            <a:p>
              <a:pPr>
                <a:defRPr b="1" i="0" strike="noStrike" sz="1100" u="none">
                  <a:solidFill>
                    <a:srgbClr val="16181D"/>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6B7684"/>
                </a:solidFill>
                <a:latin typeface="Calibri"/>
              </a:defRPr>
            </a:pPr>
            <a:endParaRPr lang="en-US"/>
          </a:p>
        </c:txPr>
        <c:crossAx val="2094734552"/>
        <c:crosses val="autoZero"/>
        <c:auto val="1"/>
        <c:lblAlgn val="ctr"/>
        <c:noMultiLvlLbl val="1"/>
      </c:catAx>
      <c:valAx>
        <c:axId val="2094734552"/>
        <c:scaling>
          <c:orientation val="minMax"/>
          <c:max val="25"/>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6B7684"/>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181D"/>
                </a:solidFill>
                <a:latin typeface="Calibri"/>
              </a:defRPr>
            </a:pPr>
            <a:r>
              <a:rPr sz="1300" b="0" i="0" u="none" strike="noStrike">
                <a:solidFill>
                  <a:srgbClr val="16181D"/>
                </a:solidFill>
                <a:latin typeface="Calibri"/>
              </a:rPr>
              <a:t>Prioridad de los 35 problemas</a:t>
            </a:r>
          </a:p>
        </c:rich>
      </c:tx>
      <c:layout/>
      <c:overlay val="0"/>
    </c:title>
    <c:autoTitleDeleted val="0"/>
    <c:plotArea>
      <c:layout/>
      <c:doughnutChart>
        <c:varyColors val="1"/>
        <c:ser>
          <c:idx val="0"/>
          <c:order val="0"/>
          <c:tx>
            <c:strRef>
              <c:f>Sheet1!$B$1</c:f>
              <c:strCache>
                <c:ptCount val="1"/>
                <c:pt idx="0">
                  <c:v>Prioridad</c:v>
                </c:pt>
              </c:strCache>
            </c:strRef>
          </c:tx>
          <c:spPr>
            <a:solidFill>
              <a:schemeClr val="accent1"/>
            </a:solidFill>
            <a:ln w="9525" cap="flat">
              <a:solidFill>
                <a:srgbClr val="F9F9F9"/>
              </a:solidFill>
              <a:prstDash val="solid"/>
              <a:round/>
            </a:ln>
            <a:effectLst/>
          </c:spPr>
          <c:dPt>
            <c:idx val="0"/>
            <c:bubble3D val="0"/>
            <c:spPr>
              <a:solidFill>
                <a:srgbClr val="C0392B"/>
              </a:solidFill>
              <a:effectLst/>
            </c:spPr>
          </c:dPt>
          <c:dPt>
            <c:idx val="1"/>
            <c:bubble3D val="0"/>
            <c:spPr>
              <a:solidFill>
                <a:srgbClr val="D68910"/>
              </a:solidFill>
              <a:effectLst/>
            </c:spPr>
          </c:dPt>
          <c:dPt>
            <c:idx val="2"/>
            <c:bubble3D val="0"/>
            <c:spPr>
              <a:solidFill>
                <a:srgbClr val="1E8449"/>
              </a:solidFill>
              <a:effectLst/>
            </c:spPr>
          </c:dPt>
          <c:dLbls>
            <c:dLbl>
              <c:idx val="0"/>
              <c:numFmt formatCode="General" sourceLinked="0"/>
              <c:spPr/>
              <c:txPr>
                <a:bodyPr/>
                <a:lstStyle/>
                <a:p>
                  <a:pPr>
                    <a:defRPr sz="1500" b="1" i="0" u="none" strike="noStrike">
                      <a:solidFill>
                        <a:srgbClr val="FFFFFF"/>
                      </a:solidFill>
                      <a:latin typeface="Calibri"/>
                    </a:defRPr>
                  </a:pPr>
                </a:p>
              </c:txPr>
              <c:showLegendKey val="0"/>
              <c:showVal val="1"/>
              <c:showCatName val="0"/>
              <c:showSerName val="0"/>
              <c:showPercent val="0"/>
              <c:showBubbleSize val="0"/>
            </c:dLbl>
            <c:dLbl>
              <c:idx val="1"/>
              <c:numFmt formatCode="General" sourceLinked="0"/>
              <c:spPr/>
              <c:txPr>
                <a:bodyPr/>
                <a:lstStyle/>
                <a:p>
                  <a:pPr>
                    <a:defRPr sz="1500" b="1" i="0" u="none" strike="noStrike">
                      <a:solidFill>
                        <a:srgbClr val="FFFFFF"/>
                      </a:solidFill>
                      <a:latin typeface="Calibri"/>
                    </a:defRPr>
                  </a:pPr>
                </a:p>
              </c:txPr>
              <c:showLegendKey val="0"/>
              <c:showVal val="1"/>
              <c:showCatName val="0"/>
              <c:showSerName val="0"/>
              <c:showPercent val="0"/>
              <c:showBubbleSize val="0"/>
            </c:dLbl>
            <c:dLbl>
              <c:idx val="2"/>
              <c:numFmt formatCode="General" sourceLinked="0"/>
              <c:spPr/>
              <c:txPr>
                <a:bodyPr/>
                <a:lstStyle/>
                <a:p>
                  <a:pPr>
                    <a:defRPr sz="1500" b="1" i="0" u="none" strike="noStrike">
                      <a:solidFill>
                        <a:srgbClr val="FFFFFF"/>
                      </a:solidFill>
                      <a:latin typeface="Calibri"/>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Alta</c:v>
                </c:pt>
                <c:pt idx="1">
                  <c:v>Media</c:v>
                </c:pt>
                <c:pt idx="2">
                  <c:v>Baja</c:v>
                </c:pt>
              </c:strCache>
            </c:strRef>
          </c:cat>
          <c:val>
            <c:numRef>
              <c:f>Sheet1!$B$2:$B$4</c:f>
              <c:numCache>
                <c:ptCount val="3"/>
                <c:pt idx="0">
                  <c:v>10</c:v>
                </c:pt>
                <c:pt idx="1">
                  <c:v>12</c:v>
                </c:pt>
                <c:pt idx="2">
                  <c:v>13</c:v>
                </c:pt>
              </c:numCache>
            </c:numRef>
          </c:val>
        </c:ser>
        <c:firstSliceAng val="0"/>
        <c:holeSize val="58"/>
      </c:doughnutChart>
      <c:spPr>
        <a:noFill/>
        <a:ln>
          <a:noFill/>
        </a:ln>
        <a:effectLst/>
      </c:spPr>
    </c:plotArea>
    <c:legend>
      <c:legendPos val="b"/>
      <c:overlay val="0"/>
      <c:txPr>
        <a:bodyPr/>
        <a:lstStyle/>
        <a:p>
          <a:pPr>
            <a:defRPr sz="1200">
              <a:solidFill>
                <a:srgbClr val="6B768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Problemas</c:v>
                </c:pt>
              </c:strCache>
            </c:strRef>
          </c:tx>
          <c:spPr>
            <a:solidFill>
              <a:srgbClr val="1E2761"/>
            </a:solidFill>
            <a:effectLst/>
          </c:spPr>
          <c:invertIfNegative val="0"/>
          <c:dLbls>
            <c:numFmt formatCode="#,##0" sourceLinked="0"/>
            <c:txPr>
              <a:bodyPr/>
              <a:lstStyle/>
              <a:p>
                <a:pPr>
                  <a:defRPr b="1" i="0" strike="noStrike" sz="1100" u="none">
                    <a:solidFill>
                      <a:srgbClr val="16181D"/>
                    </a:solidFill>
                    <a:latin typeface="Calibri"/>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1E2761"/>
              </a:solidFill>
              <a:effectLst/>
            </c:spPr>
          </c:dPt>
          <c:dPt>
            <c:idx val="2"/>
            <c:invertIfNegative val="0"/>
            <c:bubble3D val="0"/>
            <c:spPr>
              <a:solidFill>
                <a:srgbClr val="C9D3E4"/>
              </a:solidFill>
              <a:effectLst/>
            </c:spPr>
          </c:dPt>
          <c:dPt>
            <c:idx val="3"/>
            <c:invertIfNegative val="0"/>
            <c:bubble3D val="0"/>
            <c:spPr>
              <a:solidFill>
                <a:srgbClr val="C9D3E4"/>
              </a:solidFill>
              <a:effectLst/>
            </c:spPr>
          </c:dPt>
          <c:dPt>
            <c:idx val="4"/>
            <c:invertIfNegative val="0"/>
            <c:bubble3D val="0"/>
            <c:spPr>
              <a:solidFill>
                <a:srgbClr val="1E2761"/>
              </a:solidFill>
              <a:effectLst/>
            </c:spPr>
          </c:dPt>
          <c:dPt>
            <c:idx val="5"/>
            <c:invertIfNegative val="0"/>
            <c:bubble3D val="0"/>
            <c:spPr>
              <a:solidFill>
                <a:srgbClr val="6B7684"/>
              </a:solidFill>
              <a:effectLst/>
            </c:spPr>
          </c:dPt>
          <c:cat>
            <c:multiLvlStrRef>
              <c:f>Sheet1!$A$2:$A$7</c:f>
              <c:multiLvlStrCache>
                <c:ptCount val="6"/>
                <c:lvl>
                  <c:pt idx="0">
                    <c:v>Semana 6
Inconsistencias</c:v>
                  </c:pt>
                  <c:pt idx="1">
                    <c:v>Semana 7
Atípicos</c:v>
                  </c:pt>
                  <c:pt idx="2">
                    <c:v>Semana 8
Escalado</c:v>
                  </c:pt>
                  <c:pt idx="3">
                    <c:v>Semana 9
Codificación</c:v>
                  </c:pt>
                  <c:pt idx="4">
                    <c:v>Semana 10
Transformaciones</c:v>
                  </c:pt>
                  <c:pt idx="5">
                    <c:v>Sin semana
Se documentan</c:v>
                  </c:pt>
                </c:lvl>
              </c:multiLvlStrCache>
            </c:multiLvlStrRef>
          </c:cat>
          <c:val>
            <c:numRef>
              <c:f>Sheet1!$B$2:$B$7</c:f>
              <c:numCache>
                <c:formatCode>General</c:formatCode>
                <c:ptCount val="6"/>
                <c:pt idx="0">
                  <c:v>18</c:v>
                </c:pt>
                <c:pt idx="1">
                  <c:v>9</c:v>
                </c:pt>
                <c:pt idx="2">
                  <c:v>0</c:v>
                </c:pt>
                <c:pt idx="3">
                  <c:v>0</c:v>
                </c:pt>
                <c:pt idx="4">
                  <c:v>4</c:v>
                </c:pt>
                <c:pt idx="5">
                  <c:v>4</c:v>
                </c:pt>
              </c:numCache>
            </c:numRef>
          </c:val>
        </c:ser>
        <c:dLbls>
          <c:numFmt formatCode="#,##0" sourceLinked="0"/>
          <c:txPr>
            <a:bodyPr/>
            <a:lstStyle/>
            <a:p>
              <a:pPr>
                <a:defRPr b="1" i="0" strike="noStrike" sz="1100" u="none">
                  <a:solidFill>
                    <a:srgbClr val="16181D"/>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684"/>
                </a:solidFill>
                <a:latin typeface="Calibri"/>
              </a:defRPr>
            </a:pPr>
            <a:endParaRPr lang="en-US"/>
          </a:p>
        </c:txPr>
        <c:crossAx val="2094734552"/>
        <c:crosses val="autoZero"/>
        <c:auto val="1"/>
        <c:lblAlgn val="ctr"/>
        <c:noMultiLvlLbl val="1"/>
      </c:catAx>
      <c:valAx>
        <c:axId val="2094734552"/>
        <c:scaling>
          <c:orientation val="minMax"/>
          <c:max val="22"/>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6B7684"/>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Somos el equipo de la Unidad de Datos de NovaMarket. Durante cinco semanas auditamos el archivo de ventas de la compañía. Hoy presentamos los hallazgos, el dictamen de confiabilidad y el plan para sanear el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presentación tiene cuatro partes. Primero el dictamen, que es la conclusión y va de primero porque es lo que ustedes necesitan saber. Después los hallazgos, luego el plan, y al final el compromiso: en qué estado queda el dataset y cómo lo pueden comprobar.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por la conclusión. El dataset tiene confiabilidad baja y no admite análisis directo. Sobre seiscientos cuarenta mil pedidos y veinte variables identificamos treinta y cinco problemas en las seis dimensiones, nueve de severidad alta, y tres variables sin reparación posible. Hoy el archivo sirve para dimensionar volumen de pedidos. Todavía no sirve para reportar cifras monetarias, segmentar clientes ni alimentar modelos de decisión.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Auditamos las seis dimensiones estándar, y cada una responde una pregunta distinta. Completitud: ¿falta el dato? Unicidad: ¿está repetido? Validez: ¿rompe el formato del campo? Consistencia: ¿coinciden los campos entre sí? Exactitud: ¿corresponde a la realidad? Oportunidad: ¿está vigente? Fíjense dónde está el daño: exactitud y consistencia suman más de dos millones seiscientos mil registros comprometidos.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entonces con los hallazgos.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panorama. Una precisión sobre la escala: el archivo tiene seiscientas cuarenta mil filas, y estas barras suman los registros de varios problemas a la vez, porque una misma fila cae en varios. Por eso la suma de los treinta y cinco hallazgos equivale a seis veces el archivo. Y si contamos filas distintas, ninguna de las seiscientas cuarenta mil queda limpia. Exactitud es la dimensión más cargada: los defectos de NovaMarket no están en cómo se escriben los valores, sino en lo que esos valores afirman sobre la operación. En severidad: nueve altos, veinticuatro medios, dos bajos.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Ordenados por alcance, el resultado es contundente. Tres de los diez problemas principales comprometen más del sesenta por ciento del archivo y seis superan el cuarenta. El más pequeño de los diez todavía alcanza el dieciséis por ciento. No son casos aislados: son patrones que atraviesan el dataset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hallazgo es el más extendido. La ciudad de tienda presenta ochenta y ocho variantes de escritura para doce ciudades reales, en trescientos catorce mil ochocientos sesenta y cuatro registros: casi la mitad del archivo. Mayúsculas, tildes, espacios, contracciones y códigos de tres letras. El mismo patrón se repite en las otras cuatro variables categóricas. El impacto: una misma sede se reparte en siete filas del informe de venta por ciudad en promedio, y hasta en once en el caso de Bogotá, de modo que Operaciones no puede comparar tiendas ni asignar inventario.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segundo hallazgo es el más grave. Los pedidos cubren tres años, así que nadie puede envejecer más de tres. Y el rango mediano de edad dentro de un mismo cliente es de cuarenta años. Las barras rojas son los clientes cuyo rango excede lo físicamente posible: noventa y siete coma nueve por ciento. Seiscientos veintidós mil registros comprometidos, sin reparación posible.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tercer hallazgo es el que más le cuesta al negocio. El correo del cliente coincide con el identificador del pedido menos cien mil en el cien por ciento de los registros, y nunca con el identificador del cliente. El correo identifica la transacción, no a la persona. La base de contacto de NovaMarket no existe como tal, y Marketing no puede ejecutar campañas por correo.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Pasemos a completitud, donde hicimos algo más que contar vacíos. La auditoría dice cuánto falta; lo que determina si una imputación es válida es por qué falta. Diagnosticamos el mecanismo de ausencia de las siete columnas con vacíos, y esta es la conclusión de método más importante del trabajo: solo una se imputa, y no por estimación sino por deducción exacta desde el código postal. En las otras seis decidimos marcar en lugar de inventar.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evidencia. El único mecanismo demostrable directamente desde el archivo es MAR, y aparece en una sola columna. El nivel de satisfacción falta en el veinte coma tres por ciento de las compras por App, frente a menos del tres por ciento en los otros canales: casi siete veces más. V de Cramér cero coma dos noventa y uno, p menor a cero coma cero cero uno. Aun así no imputamos, porque eso fabricaría una opinión que el cliente nunca 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aquí el diagnóstico. Ahora, qué vamos a hacer al respecto.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prioridad no se asignó al azar. Combina la gravedad, medida por severidad y porcentaje de registros afectados, con la urgencia para el negocio, medida por el área que queda bloqueada. Diez problemas quedaron en alta, doce en media y trece en baja. Con una excepción deliberada: los veinte mil pedidos duplicados suben a alta pese a su severidad media, porque trabajar con duplicados distorsiona toda estadística posterior.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reparte el trabajo en el tiempo. Dieciocho problemas se resuelven en la Semana seis con limpieza de inconsistencias, nueve en la Semana siete con el tratamiento de valores imposibles, y cuatro en la Semana diez derivando variables. Quiero detenerme en algo que decidimos declarar de forma explícita: las Semanas ocho y nueve quedan en cero. El escalado y la codificación no corrigen defectos; preparan para el modelado variables que ya deben estar saneadas.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cuatro situaciones que no se resuelven, y decirlo es parte del trabajo. La edad, el correo y la condición de fuga no tienen reparación porque el dato correcto no está en el archivo. Se suma la ausencia completa de registros de stock en dos mil veinticinco. Para las cuatro la estrategia es la misma: excluir la variable del análisis y documentar la limitación. Marcar es más honesto que estimar.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este es el compromiso, redactado para que se pueda verificar. Al aplicar el plan, el dataset quedará sin duplicados, con las ochenta y ocho variantes de ciudad reducidas a doce, sin pedidos fechados después del corte, sin ciudades que contradigan el código postal, y con las variables monetarias en rangos verificables. Cada fila de esta tabla se comprueba con una consulta. Con eso pasa de confiabilidad baja a media: treinta y uno de los treinta y cinco problemas son tratables, y los otros cuatro quedan documentados.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el veredicto y la recomendación. Confiabilidad baja hoy, media una vez ejecutado el plan. Recomendamos al comité no alimentar ningún modelo de decisión con este dataset hasta terminar la Misión dos. El archivo sirve hoy para dimensionar volumen y explorar patrones gruesos por categoría y canal. Todavía no sirve para reportar cifras monetarias, segmentar por perfil demográfico, medir fuga ni entrenar modelos.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Los tres documentos que sustentan esta presentación, el Informe de Calidad de Datos, el Plan de Saneamiento y el catálogo de problemas, quedan a su disposición.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LARO">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595360" y="-1920240"/>
            <a:ext cx="5852160" cy="5852160"/>
          </a:xfrm>
          <a:prstGeom prst="ellipse">
            <a:avLst/>
          </a:prstGeom>
          <a:solidFill>
            <a:srgbClr val="2C3A73">
              <a:alpha val="55000"/>
            </a:srgbClr>
          </a:solidFill>
          <a:ln w="12700">
            <a:solidFill>
              <a:srgbClr val="2C3A73">
                <a:alpha val="0"/>
              </a:srgbClr>
            </a:solidFill>
            <a:prstDash val="solid"/>
          </a:ln>
        </p:spPr>
      </p:sp>
      <p:sp>
        <p:nvSpPr>
          <p:cNvPr id="3" name="Text 1"/>
          <p:cNvSpPr/>
          <p:nvPr/>
        </p:nvSpPr>
        <p:spPr>
          <a:xfrm>
            <a:off x="822960" y="1737360"/>
            <a:ext cx="8229600" cy="274320"/>
          </a:xfrm>
          <a:prstGeom prst="rect">
            <a:avLst/>
          </a:prstGeom>
          <a:noFill/>
          <a:ln/>
        </p:spPr>
        <p:txBody>
          <a:bodyPr wrap="square" lIns="0" tIns="0" rIns="0" bIns="0" rtlCol="0" anchor="ctr"/>
          <a:lstStyle/>
          <a:p>
            <a:pPr indent="0" marL="0">
              <a:buNone/>
            </a:pPr>
            <a:r>
              <a:rPr lang="en-US" sz="1200" b="1" spc="300" kern="0" dirty="0">
                <a:solidFill>
                  <a:srgbClr val="CADCFC"/>
                </a:solidFill>
                <a:latin typeface="Calibri" pitchFamily="34" charset="0"/>
                <a:ea typeface="Calibri" pitchFamily="34" charset="-122"/>
                <a:cs typeface="Calibri" pitchFamily="34" charset="-120"/>
              </a:rPr>
              <a:t>NOVAMARKET · UNIDAD DE DATOS</a:t>
            </a:r>
            <a:endParaRPr lang="en-US" sz="1200" dirty="0"/>
          </a:p>
        </p:txBody>
      </p:sp>
      <p:sp>
        <p:nvSpPr>
          <p:cNvPr id="4" name="Text 2"/>
          <p:cNvSpPr/>
          <p:nvPr/>
        </p:nvSpPr>
        <p:spPr>
          <a:xfrm>
            <a:off x="822960" y="2148840"/>
            <a:ext cx="8778240" cy="1737360"/>
          </a:xfrm>
          <a:prstGeom prst="rect">
            <a:avLst/>
          </a:prstGeom>
          <a:noFill/>
          <a:ln/>
        </p:spPr>
        <p:txBody>
          <a:bodyPr wrap="square" lIns="0" tIns="0" rIns="0" bIns="0" rtlCol="0" anchor="ctr"/>
          <a:lstStyle/>
          <a:p>
            <a:pPr indent="0" marL="0">
              <a:lnSpc>
                <a:spcPts val="5200"/>
              </a:lnSpc>
              <a:buNone/>
            </a:pPr>
            <a:r>
              <a:rPr lang="en-US" sz="4600" b="1" dirty="0">
                <a:solidFill>
                  <a:srgbClr val="FFFFFF"/>
                </a:solidFill>
                <a:latin typeface="Cambria" pitchFamily="34" charset="0"/>
                <a:ea typeface="Cambria" pitchFamily="34" charset="-122"/>
                <a:cs typeface="Cambria" pitchFamily="34" charset="-120"/>
              </a:rPr>
              <a:t>Auditoría de calidad</a:t>
            </a:r>
            <a:endParaRPr lang="en-US" sz="4600" dirty="0"/>
          </a:p>
          <a:p>
            <a:pPr indent="0" marL="0">
              <a:lnSpc>
                <a:spcPts val="5200"/>
              </a:lnSpc>
              <a:buNone/>
            </a:pPr>
            <a:r>
              <a:rPr lang="en-US" sz="4600" b="1" dirty="0">
                <a:solidFill>
                  <a:srgbClr val="FFFFFF"/>
                </a:solidFill>
                <a:latin typeface="Cambria" pitchFamily="34" charset="0"/>
                <a:ea typeface="Cambria" pitchFamily="34" charset="-122"/>
                <a:cs typeface="Cambria" pitchFamily="34" charset="-120"/>
              </a:rPr>
              <a:t>de datos</a:t>
            </a:r>
            <a:endParaRPr lang="en-US" sz="4600" dirty="0"/>
          </a:p>
        </p:txBody>
      </p:sp>
      <p:sp>
        <p:nvSpPr>
          <p:cNvPr id="5" name="Text 3"/>
          <p:cNvSpPr/>
          <p:nvPr/>
        </p:nvSpPr>
        <p:spPr>
          <a:xfrm>
            <a:off x="822960" y="4023360"/>
            <a:ext cx="8595360" cy="36576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Hallazgos, dictamen de confiabilidad y plan de saneamiento</a:t>
            </a:r>
            <a:endParaRPr lang="en-US" sz="1700" dirty="0"/>
          </a:p>
        </p:txBody>
      </p:sp>
      <p:sp>
        <p:nvSpPr>
          <p:cNvPr id="6" name="Text 4"/>
          <p:cNvSpPr/>
          <p:nvPr/>
        </p:nvSpPr>
        <p:spPr>
          <a:xfrm>
            <a:off x="822960" y="5212080"/>
            <a:ext cx="10241280" cy="274320"/>
          </a:xfrm>
          <a:prstGeom prst="rect">
            <a:avLst/>
          </a:prstGeom>
          <a:noFill/>
          <a:ln/>
        </p:spPr>
        <p:txBody>
          <a:bodyPr wrap="square" lIns="0" tIns="0" rIns="0" bIns="0" rtlCol="0" anchor="ctr"/>
          <a:lstStyle/>
          <a:p>
            <a:pPr indent="0" marL="0">
              <a:buNone/>
            </a:pPr>
            <a:r>
              <a:rPr lang="en-US" sz="1100" dirty="0">
                <a:solidFill>
                  <a:srgbClr val="9BB0D4"/>
                </a:solidFill>
                <a:latin typeface="Calibri" pitchFamily="34" charset="0"/>
                <a:ea typeface="Calibri" pitchFamily="34" charset="-122"/>
                <a:cs typeface="Calibri" pitchFamily="34" charset="-120"/>
              </a:rPr>
              <a:t>Grupo 05  ·  María Andrea Torres · Ricardo Borja · Gabriel Murillo Velandia · Laura Marcela Gómez</a:t>
            </a:r>
            <a:endParaRPr lang="en-US" sz="1100" dirty="0"/>
          </a:p>
        </p:txBody>
      </p:sp>
      <p:sp>
        <p:nvSpPr>
          <p:cNvPr id="7" name="Text 5"/>
          <p:cNvSpPr/>
          <p:nvPr/>
        </p:nvSpPr>
        <p:spPr>
          <a:xfrm>
            <a:off x="822960" y="5532120"/>
            <a:ext cx="10241280" cy="274320"/>
          </a:xfrm>
          <a:prstGeom prst="rect">
            <a:avLst/>
          </a:prstGeom>
          <a:noFill/>
          <a:ln/>
        </p:spPr>
        <p:txBody>
          <a:bodyPr wrap="square" lIns="0" tIns="0" rIns="0" bIns="0" rtlCol="0" anchor="ctr"/>
          <a:lstStyle/>
          <a:p>
            <a:pPr indent="0" marL="0">
              <a:buNone/>
            </a:pPr>
            <a:r>
              <a:rPr lang="en-US" sz="1100" dirty="0">
                <a:solidFill>
                  <a:srgbClr val="7C90B5"/>
                </a:solidFill>
                <a:latin typeface="Calibri" pitchFamily="34" charset="0"/>
                <a:ea typeface="Calibri" pitchFamily="34" charset="-122"/>
                <a:cs typeface="Calibri" pitchFamily="34" charset="-120"/>
              </a:rPr>
              <a:t>Preprocesamiento de Datos  ·  Hito 1  ·  Agosto de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493776"/>
            <a:ext cx="8229600" cy="256032"/>
          </a:xfrm>
          <a:prstGeom prst="rect">
            <a:avLst/>
          </a:prstGeom>
          <a:noFill/>
          <a:ln/>
        </p:spPr>
        <p:txBody>
          <a:bodyPr wrap="square" lIns="0" tIns="0" rIns="0" bIns="0" rtlCol="0" anchor="ctr"/>
          <a:lstStyle/>
          <a:p>
            <a:pPr indent="0" marL="0">
              <a:buNone/>
            </a:pPr>
            <a:r>
              <a:rPr lang="en-US" sz="1100" b="1" spc="220" kern="0" dirty="0">
                <a:solidFill>
                  <a:srgbClr val="1E2761"/>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566928" y="786384"/>
            <a:ext cx="10424160" cy="749808"/>
          </a:xfrm>
          <a:prstGeom prst="rect">
            <a:avLst/>
          </a:prstGeom>
          <a:noFill/>
          <a:ln/>
        </p:spPr>
        <p:txBody>
          <a:bodyPr wrap="square" lIns="0" tIns="0" rIns="0" bIns="0" rtlCol="0" anchor="ctr"/>
          <a:lstStyle/>
          <a:p>
            <a:pPr indent="0" marL="0">
              <a:buNone/>
            </a:pPr>
            <a:r>
              <a:rPr lang="en-US" sz="3400" b="1" dirty="0">
                <a:solidFill>
                  <a:srgbClr val="16181D"/>
                </a:solidFill>
                <a:latin typeface="Cambria" pitchFamily="34" charset="0"/>
                <a:ea typeface="Cambria" pitchFamily="34" charset="-122"/>
                <a:cs typeface="Cambria" pitchFamily="34" charset="-120"/>
              </a:rPr>
              <a:t>Lo que vamos a cubrir</a:t>
            </a:r>
            <a:endParaRPr lang="en-US" sz="3400" dirty="0"/>
          </a:p>
        </p:txBody>
      </p:sp>
      <p:sp>
        <p:nvSpPr>
          <p:cNvPr id="4" name="Shape 2"/>
          <p:cNvSpPr/>
          <p:nvPr/>
        </p:nvSpPr>
        <p:spPr>
          <a:xfrm>
            <a:off x="566928" y="2240280"/>
            <a:ext cx="5349240" cy="1737360"/>
          </a:xfrm>
          <a:prstGeom prst="roundRect">
            <a:avLst>
              <a:gd name="adj" fmla="val 3158"/>
            </a:avLst>
          </a:prstGeom>
          <a:solidFill>
            <a:srgbClr val="FFFFFF"/>
          </a:solidFill>
          <a:ln w="12700">
            <a:solidFill>
              <a:srgbClr val="DDE4EE"/>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859536" y="2532888"/>
            <a:ext cx="566928" cy="566928"/>
          </a:xfrm>
          <a:prstGeom prst="ellipse">
            <a:avLst/>
          </a:prstGeom>
          <a:solidFill>
            <a:srgbClr val="1E2761"/>
          </a:solidFill>
          <a:ln w="12700">
            <a:solidFill>
              <a:srgbClr val="1E2761"/>
            </a:solidFill>
            <a:prstDash val="solid"/>
          </a:ln>
        </p:spPr>
      </p:sp>
      <p:sp>
        <p:nvSpPr>
          <p:cNvPr id="6" name="Text 4"/>
          <p:cNvSpPr/>
          <p:nvPr/>
        </p:nvSpPr>
        <p:spPr>
          <a:xfrm>
            <a:off x="859536" y="253288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7" name="Text 5"/>
          <p:cNvSpPr/>
          <p:nvPr/>
        </p:nvSpPr>
        <p:spPr>
          <a:xfrm>
            <a:off x="1591056" y="2514600"/>
            <a:ext cx="4023360" cy="411480"/>
          </a:xfrm>
          <a:prstGeom prst="rect">
            <a:avLst/>
          </a:prstGeom>
          <a:noFill/>
          <a:ln/>
        </p:spPr>
        <p:txBody>
          <a:bodyPr wrap="square" lIns="0" tIns="0" rIns="0" bIns="0" rtlCol="0" anchor="ctr"/>
          <a:lstStyle/>
          <a:p>
            <a:pPr indent="0" marL="0">
              <a:buNone/>
            </a:pPr>
            <a:r>
              <a:rPr lang="en-US" sz="2000" b="1" dirty="0">
                <a:solidFill>
                  <a:srgbClr val="16181D"/>
                </a:solidFill>
                <a:latin typeface="Cambria" pitchFamily="34" charset="0"/>
                <a:ea typeface="Cambria" pitchFamily="34" charset="-122"/>
                <a:cs typeface="Cambria" pitchFamily="34" charset="-120"/>
              </a:rPr>
              <a:t>El dictamen</a:t>
            </a:r>
            <a:endParaRPr lang="en-US" sz="2000" dirty="0"/>
          </a:p>
        </p:txBody>
      </p:sp>
      <p:sp>
        <p:nvSpPr>
          <p:cNvPr id="8" name="Text 6"/>
          <p:cNvSpPr/>
          <p:nvPr/>
        </p:nvSpPr>
        <p:spPr>
          <a:xfrm>
            <a:off x="1591056" y="2990088"/>
            <a:ext cx="4023360" cy="777240"/>
          </a:xfrm>
          <a:prstGeom prst="rect">
            <a:avLst/>
          </a:prstGeom>
          <a:noFill/>
          <a:ln/>
        </p:spPr>
        <p:txBody>
          <a:bodyPr wrap="square" lIns="0" tIns="0" rIns="0" bIns="0" rtlCol="0" anchor="t"/>
          <a:lstStyle/>
          <a:p>
            <a:pPr indent="0" marL="0">
              <a:buNone/>
            </a:pPr>
            <a:r>
              <a:rPr lang="en-US" sz="1250" dirty="0">
                <a:solidFill>
                  <a:srgbClr val="6B7684"/>
                </a:solidFill>
                <a:latin typeface="Calibri" pitchFamily="34" charset="0"/>
                <a:ea typeface="Calibri" pitchFamily="34" charset="-122"/>
                <a:cs typeface="Calibri" pitchFamily="34" charset="-120"/>
              </a:rPr>
              <a:t>Qué tan confiable es hoy el archivo de ventas y por qué</a:t>
            </a:r>
            <a:endParaRPr lang="en-US" sz="1250" dirty="0"/>
          </a:p>
        </p:txBody>
      </p:sp>
      <p:sp>
        <p:nvSpPr>
          <p:cNvPr id="9" name="Shape 7"/>
          <p:cNvSpPr/>
          <p:nvPr/>
        </p:nvSpPr>
        <p:spPr>
          <a:xfrm>
            <a:off x="6236208" y="2240280"/>
            <a:ext cx="5349240" cy="1737360"/>
          </a:xfrm>
          <a:prstGeom prst="roundRect">
            <a:avLst>
              <a:gd name="adj" fmla="val 3158"/>
            </a:avLst>
          </a:prstGeom>
          <a:solidFill>
            <a:srgbClr val="FFFFFF"/>
          </a:solidFill>
          <a:ln w="12700">
            <a:solidFill>
              <a:srgbClr val="DDE4EE"/>
            </a:solidFill>
            <a:prstDash val="solid"/>
          </a:ln>
          <a:effectLst>
            <a:outerShdw sx="100000" sy="100000" kx="0" ky="0" algn="bl" rotWithShape="0" blurRad="101600" dist="25400" dir="5400000">
              <a:srgbClr val="000000">
                <a:alpha val="10000"/>
              </a:srgbClr>
            </a:outerShdw>
          </a:effectLst>
        </p:spPr>
      </p:sp>
      <p:sp>
        <p:nvSpPr>
          <p:cNvPr id="10" name="Shape 8"/>
          <p:cNvSpPr/>
          <p:nvPr/>
        </p:nvSpPr>
        <p:spPr>
          <a:xfrm>
            <a:off x="6528816" y="2532888"/>
            <a:ext cx="566928" cy="566928"/>
          </a:xfrm>
          <a:prstGeom prst="ellipse">
            <a:avLst/>
          </a:prstGeom>
          <a:solidFill>
            <a:srgbClr val="1E2761"/>
          </a:solidFill>
          <a:ln w="12700">
            <a:solidFill>
              <a:srgbClr val="1E2761"/>
            </a:solidFill>
            <a:prstDash val="solid"/>
          </a:ln>
        </p:spPr>
      </p:sp>
      <p:sp>
        <p:nvSpPr>
          <p:cNvPr id="11" name="Text 9"/>
          <p:cNvSpPr/>
          <p:nvPr/>
        </p:nvSpPr>
        <p:spPr>
          <a:xfrm>
            <a:off x="6528816" y="253288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2" name="Text 10"/>
          <p:cNvSpPr/>
          <p:nvPr/>
        </p:nvSpPr>
        <p:spPr>
          <a:xfrm>
            <a:off x="7260336" y="2514600"/>
            <a:ext cx="4023360" cy="411480"/>
          </a:xfrm>
          <a:prstGeom prst="rect">
            <a:avLst/>
          </a:prstGeom>
          <a:noFill/>
          <a:ln/>
        </p:spPr>
        <p:txBody>
          <a:bodyPr wrap="square" lIns="0" tIns="0" rIns="0" bIns="0" rtlCol="0" anchor="ctr"/>
          <a:lstStyle/>
          <a:p>
            <a:pPr indent="0" marL="0">
              <a:buNone/>
            </a:pPr>
            <a:r>
              <a:rPr lang="en-US" sz="2000" b="1" dirty="0">
                <a:solidFill>
                  <a:srgbClr val="16181D"/>
                </a:solidFill>
                <a:latin typeface="Cambria" pitchFamily="34" charset="0"/>
                <a:ea typeface="Cambria" pitchFamily="34" charset="-122"/>
                <a:cs typeface="Cambria" pitchFamily="34" charset="-120"/>
              </a:rPr>
              <a:t>Los hallazgos</a:t>
            </a:r>
            <a:endParaRPr lang="en-US" sz="2000" dirty="0"/>
          </a:p>
        </p:txBody>
      </p:sp>
      <p:sp>
        <p:nvSpPr>
          <p:cNvPr id="13" name="Text 11"/>
          <p:cNvSpPr/>
          <p:nvPr/>
        </p:nvSpPr>
        <p:spPr>
          <a:xfrm>
            <a:off x="7260336" y="2990088"/>
            <a:ext cx="4023360" cy="777240"/>
          </a:xfrm>
          <a:prstGeom prst="rect">
            <a:avLst/>
          </a:prstGeom>
          <a:noFill/>
          <a:ln/>
        </p:spPr>
        <p:txBody>
          <a:bodyPr wrap="square" lIns="0" tIns="0" rIns="0" bIns="0" rtlCol="0" anchor="t"/>
          <a:lstStyle/>
          <a:p>
            <a:pPr indent="0" marL="0">
              <a:buNone/>
            </a:pPr>
            <a:r>
              <a:rPr lang="en-US" sz="1250" dirty="0">
                <a:solidFill>
                  <a:srgbClr val="6B7684"/>
                </a:solidFill>
                <a:latin typeface="Calibri" pitchFamily="34" charset="0"/>
                <a:ea typeface="Calibri" pitchFamily="34" charset="-122"/>
                <a:cs typeface="Calibri" pitchFamily="34" charset="-120"/>
              </a:rPr>
              <a:t>Las seis dimensiones auditadas y los tres problemas que deciden el veredicto</a:t>
            </a:r>
            <a:endParaRPr lang="en-US" sz="1250" dirty="0"/>
          </a:p>
        </p:txBody>
      </p:sp>
      <p:sp>
        <p:nvSpPr>
          <p:cNvPr id="14" name="Shape 12"/>
          <p:cNvSpPr/>
          <p:nvPr/>
        </p:nvSpPr>
        <p:spPr>
          <a:xfrm>
            <a:off x="566928" y="4206240"/>
            <a:ext cx="5349240" cy="1737360"/>
          </a:xfrm>
          <a:prstGeom prst="roundRect">
            <a:avLst>
              <a:gd name="adj" fmla="val 3158"/>
            </a:avLst>
          </a:prstGeom>
          <a:solidFill>
            <a:srgbClr val="FFFFFF"/>
          </a:solidFill>
          <a:ln w="12700">
            <a:solidFill>
              <a:srgbClr val="DDE4EE"/>
            </a:solidFill>
            <a:prstDash val="solid"/>
          </a:ln>
          <a:effectLst>
            <a:outerShdw sx="100000" sy="100000" kx="0" ky="0" algn="bl" rotWithShape="0" blurRad="101600" dist="25400" dir="5400000">
              <a:srgbClr val="000000">
                <a:alpha val="10000"/>
              </a:srgbClr>
            </a:outerShdw>
          </a:effectLst>
        </p:spPr>
      </p:sp>
      <p:sp>
        <p:nvSpPr>
          <p:cNvPr id="15" name="Shape 13"/>
          <p:cNvSpPr/>
          <p:nvPr/>
        </p:nvSpPr>
        <p:spPr>
          <a:xfrm>
            <a:off x="859536" y="4498848"/>
            <a:ext cx="566928" cy="566928"/>
          </a:xfrm>
          <a:prstGeom prst="ellipse">
            <a:avLst/>
          </a:prstGeom>
          <a:solidFill>
            <a:srgbClr val="1E2761"/>
          </a:solidFill>
          <a:ln w="12700">
            <a:solidFill>
              <a:srgbClr val="1E2761"/>
            </a:solidFill>
            <a:prstDash val="solid"/>
          </a:ln>
        </p:spPr>
      </p:sp>
      <p:sp>
        <p:nvSpPr>
          <p:cNvPr id="16" name="Text 14"/>
          <p:cNvSpPr/>
          <p:nvPr/>
        </p:nvSpPr>
        <p:spPr>
          <a:xfrm>
            <a:off x="859536" y="44988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7" name="Text 15"/>
          <p:cNvSpPr/>
          <p:nvPr/>
        </p:nvSpPr>
        <p:spPr>
          <a:xfrm>
            <a:off x="1591056" y="4480560"/>
            <a:ext cx="4023360" cy="411480"/>
          </a:xfrm>
          <a:prstGeom prst="rect">
            <a:avLst/>
          </a:prstGeom>
          <a:noFill/>
          <a:ln/>
        </p:spPr>
        <p:txBody>
          <a:bodyPr wrap="square" lIns="0" tIns="0" rIns="0" bIns="0" rtlCol="0" anchor="ctr"/>
          <a:lstStyle/>
          <a:p>
            <a:pPr indent="0" marL="0">
              <a:buNone/>
            </a:pPr>
            <a:r>
              <a:rPr lang="en-US" sz="2000" b="1" dirty="0">
                <a:solidFill>
                  <a:srgbClr val="16181D"/>
                </a:solidFill>
                <a:latin typeface="Cambria" pitchFamily="34" charset="0"/>
                <a:ea typeface="Cambria" pitchFamily="34" charset="-122"/>
                <a:cs typeface="Cambria" pitchFamily="34" charset="-120"/>
              </a:rPr>
              <a:t>El plan</a:t>
            </a:r>
            <a:endParaRPr lang="en-US" sz="2000" dirty="0"/>
          </a:p>
        </p:txBody>
      </p:sp>
      <p:sp>
        <p:nvSpPr>
          <p:cNvPr id="18" name="Text 16"/>
          <p:cNvSpPr/>
          <p:nvPr/>
        </p:nvSpPr>
        <p:spPr>
          <a:xfrm>
            <a:off x="1591056" y="4956048"/>
            <a:ext cx="4023360" cy="777240"/>
          </a:xfrm>
          <a:prstGeom prst="rect">
            <a:avLst/>
          </a:prstGeom>
          <a:noFill/>
          <a:ln/>
        </p:spPr>
        <p:txBody>
          <a:bodyPr wrap="square" lIns="0" tIns="0" rIns="0" bIns="0" rtlCol="0" anchor="t"/>
          <a:lstStyle/>
          <a:p>
            <a:pPr indent="0" marL="0">
              <a:buNone/>
            </a:pPr>
            <a:r>
              <a:rPr lang="en-US" sz="1250" dirty="0">
                <a:solidFill>
                  <a:srgbClr val="6B7684"/>
                </a:solidFill>
                <a:latin typeface="Calibri" pitchFamily="34" charset="0"/>
                <a:ea typeface="Calibri" pitchFamily="34" charset="-122"/>
                <a:cs typeface="Calibri" pitchFamily="34" charset="-120"/>
              </a:rPr>
              <a:t>Qué se hace con cada problema, en qué orden y en qué semana</a:t>
            </a:r>
            <a:endParaRPr lang="en-US" sz="1250" dirty="0"/>
          </a:p>
        </p:txBody>
      </p:sp>
      <p:sp>
        <p:nvSpPr>
          <p:cNvPr id="19" name="Shape 17"/>
          <p:cNvSpPr/>
          <p:nvPr/>
        </p:nvSpPr>
        <p:spPr>
          <a:xfrm>
            <a:off x="6236208" y="4206240"/>
            <a:ext cx="5349240" cy="1737360"/>
          </a:xfrm>
          <a:prstGeom prst="roundRect">
            <a:avLst>
              <a:gd name="adj" fmla="val 3158"/>
            </a:avLst>
          </a:prstGeom>
          <a:solidFill>
            <a:srgbClr val="FFFFFF"/>
          </a:solidFill>
          <a:ln w="12700">
            <a:solidFill>
              <a:srgbClr val="DDE4EE"/>
            </a:solidFill>
            <a:prstDash val="solid"/>
          </a:ln>
          <a:effectLst>
            <a:outerShdw sx="100000" sy="100000" kx="0" ky="0" algn="bl" rotWithShape="0" blurRad="101600" dist="25400" dir="5400000">
              <a:srgbClr val="000000">
                <a:alpha val="10000"/>
              </a:srgbClr>
            </a:outerShdw>
          </a:effectLst>
        </p:spPr>
      </p:sp>
      <p:sp>
        <p:nvSpPr>
          <p:cNvPr id="20" name="Shape 18"/>
          <p:cNvSpPr/>
          <p:nvPr/>
        </p:nvSpPr>
        <p:spPr>
          <a:xfrm>
            <a:off x="6528816" y="4498848"/>
            <a:ext cx="566928" cy="566928"/>
          </a:xfrm>
          <a:prstGeom prst="ellipse">
            <a:avLst/>
          </a:prstGeom>
          <a:solidFill>
            <a:srgbClr val="1E2761"/>
          </a:solidFill>
          <a:ln w="12700">
            <a:solidFill>
              <a:srgbClr val="1E2761"/>
            </a:solidFill>
            <a:prstDash val="solid"/>
          </a:ln>
        </p:spPr>
      </p:sp>
      <p:sp>
        <p:nvSpPr>
          <p:cNvPr id="21" name="Text 19"/>
          <p:cNvSpPr/>
          <p:nvPr/>
        </p:nvSpPr>
        <p:spPr>
          <a:xfrm>
            <a:off x="6528816" y="44988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2" name="Text 20"/>
          <p:cNvSpPr/>
          <p:nvPr/>
        </p:nvSpPr>
        <p:spPr>
          <a:xfrm>
            <a:off x="7260336" y="4480560"/>
            <a:ext cx="4023360" cy="411480"/>
          </a:xfrm>
          <a:prstGeom prst="rect">
            <a:avLst/>
          </a:prstGeom>
          <a:noFill/>
          <a:ln/>
        </p:spPr>
        <p:txBody>
          <a:bodyPr wrap="square" lIns="0" tIns="0" rIns="0" bIns="0" rtlCol="0" anchor="ctr"/>
          <a:lstStyle/>
          <a:p>
            <a:pPr indent="0" marL="0">
              <a:buNone/>
            </a:pPr>
            <a:r>
              <a:rPr lang="en-US" sz="2000" b="1" dirty="0">
                <a:solidFill>
                  <a:srgbClr val="16181D"/>
                </a:solidFill>
                <a:latin typeface="Cambria" pitchFamily="34" charset="0"/>
                <a:ea typeface="Cambria" pitchFamily="34" charset="-122"/>
                <a:cs typeface="Cambria" pitchFamily="34" charset="-120"/>
              </a:rPr>
              <a:t>El compromiso</a:t>
            </a:r>
            <a:endParaRPr lang="en-US" sz="2000" dirty="0"/>
          </a:p>
        </p:txBody>
      </p:sp>
      <p:sp>
        <p:nvSpPr>
          <p:cNvPr id="23" name="Text 21"/>
          <p:cNvSpPr/>
          <p:nvPr/>
        </p:nvSpPr>
        <p:spPr>
          <a:xfrm>
            <a:off x="7260336" y="4956048"/>
            <a:ext cx="4023360" cy="777240"/>
          </a:xfrm>
          <a:prstGeom prst="rect">
            <a:avLst/>
          </a:prstGeom>
          <a:noFill/>
          <a:ln/>
        </p:spPr>
        <p:txBody>
          <a:bodyPr wrap="square" lIns="0" tIns="0" rIns="0" bIns="0" rtlCol="0" anchor="t"/>
          <a:lstStyle/>
          <a:p>
            <a:pPr indent="0" marL="0">
              <a:buNone/>
            </a:pPr>
            <a:r>
              <a:rPr lang="en-US" sz="1250" dirty="0">
                <a:solidFill>
                  <a:srgbClr val="6B7684"/>
                </a:solidFill>
                <a:latin typeface="Calibri" pitchFamily="34" charset="0"/>
                <a:ea typeface="Calibri" pitchFamily="34" charset="-122"/>
                <a:cs typeface="Calibri" pitchFamily="34" charset="-120"/>
              </a:rPr>
              <a:t>En qué estado queda el dataset y cómo se verifica</a:t>
            </a:r>
            <a:endParaRPr lang="en-US" sz="1250" dirty="0"/>
          </a:p>
        </p:txBody>
      </p:sp>
      <p:sp>
        <p:nvSpPr>
          <p:cNvPr id="24" name="Text 22"/>
          <p:cNvSpPr/>
          <p:nvPr/>
        </p:nvSpPr>
        <p:spPr>
          <a:xfrm>
            <a:off x="566928" y="6181344"/>
            <a:ext cx="9509760" cy="292608"/>
          </a:xfrm>
          <a:prstGeom prst="rect">
            <a:avLst/>
          </a:prstGeom>
          <a:noFill/>
          <a:ln/>
        </p:spPr>
        <p:txBody>
          <a:bodyPr wrap="square" lIns="0" tIns="0" rIns="0" bIns="0" rtlCol="0" anchor="ctr"/>
          <a:lstStyle/>
          <a:p>
            <a:pPr indent="0" marL="0">
              <a:buNone/>
            </a:pPr>
            <a:r>
              <a:rPr lang="en-US" sz="1000" dirty="0">
                <a:solidFill>
                  <a:srgbClr val="6B7684"/>
                </a:solidFill>
                <a:latin typeface="Calibri" pitchFamily="34" charset="0"/>
                <a:ea typeface="Calibri" pitchFamily="34" charset="-122"/>
                <a:cs typeface="Calibri" pitchFamily="34" charset="-120"/>
              </a:rPr>
              <a:t>Fuente: auditoría sobre NovaMarket_datos_crudos.csv, 640.000 registros × 20 variables</a:t>
            </a:r>
            <a:endParaRPr lang="en-US" sz="1000" dirty="0"/>
          </a:p>
        </p:txBody>
      </p:sp>
      <p:sp>
        <p:nvSpPr>
          <p:cNvPr id="25" name="Text 23"/>
          <p:cNvSpPr/>
          <p:nvPr/>
        </p:nvSpPr>
        <p:spPr>
          <a:xfrm>
            <a:off x="10820095" y="6181344"/>
            <a:ext cx="822960" cy="292608"/>
          </a:xfrm>
          <a:prstGeom prst="rect">
            <a:avLst/>
          </a:prstGeom>
          <a:noFill/>
          <a:ln/>
        </p:spPr>
        <p:txBody>
          <a:bodyPr wrap="square" lIns="0" tIns="0" rIns="0" bIns="0" rtlCol="0" anchor="ctr"/>
          <a:lstStyle/>
          <a:p>
            <a:pPr algn="r" indent="0" marL="0">
              <a:buNone/>
            </a:pPr>
            <a:r>
              <a:rPr lang="en-US" sz="1000" dirty="0">
                <a:solidFill>
                  <a:srgbClr val="6B7684"/>
                </a:solidFill>
                <a:latin typeface="Calibri" pitchFamily="34" charset="0"/>
                <a:ea typeface="Calibri" pitchFamily="34" charset="-122"/>
                <a:cs typeface="Calibri" pitchFamily="34" charset="-120"/>
              </a:rPr>
              <a:t>02 / 19</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621792"/>
            <a:ext cx="7315200" cy="274320"/>
          </a:xfrm>
          <a:prstGeom prst="rect">
            <a:avLst/>
          </a:prstGeom>
          <a:noFill/>
          <a:ln/>
        </p:spPr>
        <p:txBody>
          <a:bodyPr wrap="square" lIns="0" tIns="0" rIns="0" bIns="0" rtlCol="0" anchor="ctr"/>
          <a:lstStyle/>
          <a:p>
            <a:pPr indent="0" marL="0">
              <a:buNone/>
            </a:pPr>
            <a:r>
              <a:rPr lang="en-US" sz="1200" b="1" spc="300" kern="0" dirty="0">
                <a:solidFill>
                  <a:srgbClr val="CADCFC"/>
                </a:solidFill>
                <a:latin typeface="Calibri" pitchFamily="34" charset="0"/>
                <a:ea typeface="Calibri" pitchFamily="34" charset="-122"/>
                <a:cs typeface="Calibri" pitchFamily="34" charset="-120"/>
              </a:rPr>
              <a:t>EL DICTAMEN</a:t>
            </a:r>
            <a:endParaRPr lang="en-US" sz="1200" dirty="0"/>
          </a:p>
        </p:txBody>
      </p:sp>
      <p:sp>
        <p:nvSpPr>
          <p:cNvPr id="3" name="Text 1"/>
          <p:cNvSpPr/>
          <p:nvPr/>
        </p:nvSpPr>
        <p:spPr>
          <a:xfrm>
            <a:off x="822960" y="1078992"/>
            <a:ext cx="5486400" cy="548640"/>
          </a:xfrm>
          <a:prstGeom prst="rect">
            <a:avLst/>
          </a:prstGeom>
          <a:noFill/>
          <a:ln/>
        </p:spPr>
        <p:txBody>
          <a:bodyPr wrap="square" lIns="0" tIns="0" rIns="0" bIns="0" rtlCol="0" anchor="ctr"/>
          <a:lstStyle/>
          <a:p>
            <a:pPr indent="0" marL="0">
              <a:buNone/>
            </a:pPr>
            <a:r>
              <a:rPr lang="en-US" sz="2800" dirty="0">
                <a:solidFill>
                  <a:srgbClr val="CADCFC"/>
                </a:solidFill>
                <a:latin typeface="Cambria" pitchFamily="34" charset="0"/>
                <a:ea typeface="Cambria" pitchFamily="34" charset="-122"/>
                <a:cs typeface="Cambria" pitchFamily="34" charset="-120"/>
              </a:rPr>
              <a:t>Confiabilidad</a:t>
            </a:r>
            <a:endParaRPr lang="en-US" sz="2800" dirty="0"/>
          </a:p>
        </p:txBody>
      </p:sp>
      <p:sp>
        <p:nvSpPr>
          <p:cNvPr id="4" name="Text 2"/>
          <p:cNvSpPr/>
          <p:nvPr/>
        </p:nvSpPr>
        <p:spPr>
          <a:xfrm>
            <a:off x="822960" y="1627632"/>
            <a:ext cx="5486400" cy="1828800"/>
          </a:xfrm>
          <a:prstGeom prst="rect">
            <a:avLst/>
          </a:prstGeom>
          <a:noFill/>
          <a:ln/>
        </p:spPr>
        <p:txBody>
          <a:bodyPr wrap="square" lIns="0" tIns="0" rIns="0" bIns="0" rtlCol="0" anchor="ctr"/>
          <a:lstStyle/>
          <a:p>
            <a:pPr indent="0" marL="0">
              <a:buNone/>
            </a:pPr>
            <a:r>
              <a:rPr lang="en-US" sz="11000" b="1" dirty="0">
                <a:solidFill>
                  <a:srgbClr val="FFFFFF"/>
                </a:solidFill>
                <a:latin typeface="Calibri" pitchFamily="34" charset="0"/>
                <a:ea typeface="Calibri" pitchFamily="34" charset="-122"/>
                <a:cs typeface="Calibri" pitchFamily="34" charset="-120"/>
              </a:rPr>
              <a:t>BAJA</a:t>
            </a:r>
            <a:endParaRPr lang="en-US" sz="11000" dirty="0"/>
          </a:p>
        </p:txBody>
      </p:sp>
      <p:sp>
        <p:nvSpPr>
          <p:cNvPr id="5" name="Text 3"/>
          <p:cNvSpPr/>
          <p:nvPr/>
        </p:nvSpPr>
        <p:spPr>
          <a:xfrm>
            <a:off x="822960" y="3703320"/>
            <a:ext cx="512064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El archivo no admite análisis directo.</a:t>
            </a:r>
            <a:endParaRPr lang="en-US" sz="1800" dirty="0"/>
          </a:p>
        </p:txBody>
      </p:sp>
      <p:sp>
        <p:nvSpPr>
          <p:cNvPr id="6" name="Text 4"/>
          <p:cNvSpPr/>
          <p:nvPr/>
        </p:nvSpPr>
        <p:spPr>
          <a:xfrm>
            <a:off x="822960" y="4160520"/>
            <a:ext cx="5120640" cy="137160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Hoy sirve para dimensionar volumen de pedidos. Todavía no para reportar cifras monetarias, segmentar clientes ni alimentar modelos de decisión.</a:t>
            </a:r>
            <a:endParaRPr lang="en-US" sz="1500" dirty="0"/>
          </a:p>
        </p:txBody>
      </p:sp>
      <p:sp>
        <p:nvSpPr>
          <p:cNvPr id="7" name="Shape 5"/>
          <p:cNvSpPr/>
          <p:nvPr/>
        </p:nvSpPr>
        <p:spPr>
          <a:xfrm>
            <a:off x="6675120" y="1234440"/>
            <a:ext cx="2377440" cy="2057400"/>
          </a:xfrm>
          <a:prstGeom prst="roundRect">
            <a:avLst>
              <a:gd name="adj" fmla="val 2667"/>
            </a:avLst>
          </a:prstGeom>
          <a:solidFill>
            <a:srgbClr val="2C3A73"/>
          </a:solidFill>
          <a:ln w="12700">
            <a:solidFill>
              <a:srgbClr val="3C4C8A"/>
            </a:solidFill>
            <a:prstDash val="solid"/>
          </a:ln>
        </p:spPr>
      </p:sp>
      <p:sp>
        <p:nvSpPr>
          <p:cNvPr id="8" name="Text 6"/>
          <p:cNvSpPr/>
          <p:nvPr/>
        </p:nvSpPr>
        <p:spPr>
          <a:xfrm>
            <a:off x="6903720" y="1527048"/>
            <a:ext cx="196596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640.000</a:t>
            </a:r>
            <a:endParaRPr lang="en-US" sz="3400" dirty="0"/>
          </a:p>
        </p:txBody>
      </p:sp>
      <p:sp>
        <p:nvSpPr>
          <p:cNvPr id="9" name="Text 7"/>
          <p:cNvSpPr/>
          <p:nvPr/>
        </p:nvSpPr>
        <p:spPr>
          <a:xfrm>
            <a:off x="6903720" y="2404872"/>
            <a:ext cx="1965960" cy="73152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registros auditados</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en 20 variables</a:t>
            </a:r>
            <a:endParaRPr lang="en-US" sz="1200" dirty="0"/>
          </a:p>
        </p:txBody>
      </p:sp>
      <p:sp>
        <p:nvSpPr>
          <p:cNvPr id="10" name="Shape 8"/>
          <p:cNvSpPr/>
          <p:nvPr/>
        </p:nvSpPr>
        <p:spPr>
          <a:xfrm>
            <a:off x="9281160" y="1234440"/>
            <a:ext cx="2377440" cy="2057400"/>
          </a:xfrm>
          <a:prstGeom prst="roundRect">
            <a:avLst>
              <a:gd name="adj" fmla="val 2667"/>
            </a:avLst>
          </a:prstGeom>
          <a:solidFill>
            <a:srgbClr val="2C3A73"/>
          </a:solidFill>
          <a:ln w="12700">
            <a:solidFill>
              <a:srgbClr val="3C4C8A"/>
            </a:solidFill>
            <a:prstDash val="solid"/>
          </a:ln>
        </p:spPr>
      </p:sp>
      <p:sp>
        <p:nvSpPr>
          <p:cNvPr id="11" name="Text 9"/>
          <p:cNvSpPr/>
          <p:nvPr/>
        </p:nvSpPr>
        <p:spPr>
          <a:xfrm>
            <a:off x="9509760" y="1527048"/>
            <a:ext cx="196596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35</a:t>
            </a:r>
            <a:endParaRPr lang="en-US" sz="3400" dirty="0"/>
          </a:p>
        </p:txBody>
      </p:sp>
      <p:sp>
        <p:nvSpPr>
          <p:cNvPr id="12" name="Text 10"/>
          <p:cNvSpPr/>
          <p:nvPr/>
        </p:nvSpPr>
        <p:spPr>
          <a:xfrm>
            <a:off x="9509760" y="2404872"/>
            <a:ext cx="1965960" cy="73152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problemas en</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6 dimensiones</a:t>
            </a:r>
            <a:endParaRPr lang="en-US" sz="1200" dirty="0"/>
          </a:p>
        </p:txBody>
      </p:sp>
      <p:sp>
        <p:nvSpPr>
          <p:cNvPr id="13" name="Shape 11"/>
          <p:cNvSpPr/>
          <p:nvPr/>
        </p:nvSpPr>
        <p:spPr>
          <a:xfrm>
            <a:off x="6675120" y="3566160"/>
            <a:ext cx="2377440" cy="2057400"/>
          </a:xfrm>
          <a:prstGeom prst="roundRect">
            <a:avLst>
              <a:gd name="adj" fmla="val 2667"/>
            </a:avLst>
          </a:prstGeom>
          <a:solidFill>
            <a:srgbClr val="2C3A73"/>
          </a:solidFill>
          <a:ln w="12700">
            <a:solidFill>
              <a:srgbClr val="3C4C8A"/>
            </a:solidFill>
            <a:prstDash val="solid"/>
          </a:ln>
        </p:spPr>
      </p:sp>
      <p:sp>
        <p:nvSpPr>
          <p:cNvPr id="14" name="Text 12"/>
          <p:cNvSpPr/>
          <p:nvPr/>
        </p:nvSpPr>
        <p:spPr>
          <a:xfrm>
            <a:off x="6903720" y="3858768"/>
            <a:ext cx="196596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9</a:t>
            </a:r>
            <a:endParaRPr lang="en-US" sz="3400" dirty="0"/>
          </a:p>
        </p:txBody>
      </p:sp>
      <p:sp>
        <p:nvSpPr>
          <p:cNvPr id="15" name="Text 13"/>
          <p:cNvSpPr/>
          <p:nvPr/>
        </p:nvSpPr>
        <p:spPr>
          <a:xfrm>
            <a:off x="6903720" y="4736592"/>
            <a:ext cx="1965960" cy="73152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de severidad</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alta</a:t>
            </a:r>
            <a:endParaRPr lang="en-US" sz="1200" dirty="0"/>
          </a:p>
        </p:txBody>
      </p:sp>
      <p:sp>
        <p:nvSpPr>
          <p:cNvPr id="16" name="Shape 14"/>
          <p:cNvSpPr/>
          <p:nvPr/>
        </p:nvSpPr>
        <p:spPr>
          <a:xfrm>
            <a:off x="9281160" y="3566160"/>
            <a:ext cx="2377440" cy="2057400"/>
          </a:xfrm>
          <a:prstGeom prst="roundRect">
            <a:avLst>
              <a:gd name="adj" fmla="val 2667"/>
            </a:avLst>
          </a:prstGeom>
          <a:solidFill>
            <a:srgbClr val="2C3A73"/>
          </a:solidFill>
          <a:ln w="12700">
            <a:solidFill>
              <a:srgbClr val="3C4C8A"/>
            </a:solidFill>
            <a:prstDash val="solid"/>
          </a:ln>
        </p:spPr>
      </p:sp>
      <p:sp>
        <p:nvSpPr>
          <p:cNvPr id="17" name="Text 15"/>
          <p:cNvSpPr/>
          <p:nvPr/>
        </p:nvSpPr>
        <p:spPr>
          <a:xfrm>
            <a:off x="9509760" y="3858768"/>
            <a:ext cx="196596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3</a:t>
            </a:r>
            <a:endParaRPr lang="en-US" sz="3400" dirty="0"/>
          </a:p>
        </p:txBody>
      </p:sp>
      <p:sp>
        <p:nvSpPr>
          <p:cNvPr id="18" name="Text 16"/>
          <p:cNvSpPr/>
          <p:nvPr/>
        </p:nvSpPr>
        <p:spPr>
          <a:xfrm>
            <a:off x="9509760" y="4736592"/>
            <a:ext cx="1965960" cy="73152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variables sin</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reparación posible</a:t>
            </a:r>
            <a:endParaRPr lang="en-US" sz="1200" dirty="0"/>
          </a:p>
        </p:txBody>
      </p:sp>
      <p:sp>
        <p:nvSpPr>
          <p:cNvPr id="19" name="Text 17"/>
          <p:cNvSpPr/>
          <p:nvPr/>
        </p:nvSpPr>
        <p:spPr>
          <a:xfrm>
            <a:off x="822960" y="6181344"/>
            <a:ext cx="8229600" cy="292608"/>
          </a:xfrm>
          <a:prstGeom prst="rect">
            <a:avLst/>
          </a:prstGeom>
          <a:noFill/>
          <a:ln/>
        </p:spPr>
        <p:txBody>
          <a:bodyPr wrap="square" lIns="0" tIns="0" rIns="0" bIns="0" rtlCol="0" anchor="ctr"/>
          <a:lstStyle/>
          <a:p>
            <a:pPr indent="0" marL="0">
              <a:buNone/>
            </a:pPr>
            <a:r>
              <a:rPr lang="en-US" sz="1000" dirty="0">
                <a:solidFill>
                  <a:srgbClr val="8FA4CC"/>
                </a:solidFill>
                <a:latin typeface="Calibri" pitchFamily="34" charset="0"/>
                <a:ea typeface="Calibri" pitchFamily="34" charset="-122"/>
                <a:cs typeface="Calibri" pitchFamily="34" charset="-120"/>
              </a:rPr>
              <a:t>Sobre 640.000 pedidos y 20 variables · fecha de corte 4 de agosto de 2026</a:t>
            </a:r>
            <a:endParaRPr lang="en-US" sz="1000" dirty="0"/>
          </a:p>
        </p:txBody>
      </p:sp>
      <p:sp>
        <p:nvSpPr>
          <p:cNvPr id="20" name="Text 18"/>
          <p:cNvSpPr/>
          <p:nvPr/>
        </p:nvSpPr>
        <p:spPr>
          <a:xfrm>
            <a:off x="10820095" y="6181344"/>
            <a:ext cx="822960" cy="292608"/>
          </a:xfrm>
          <a:prstGeom prst="rect">
            <a:avLst/>
          </a:prstGeom>
          <a:noFill/>
          <a:ln/>
        </p:spPr>
        <p:txBody>
          <a:bodyPr wrap="square" lIns="0" tIns="0" rIns="0" bIns="0" rtlCol="0" anchor="ctr"/>
          <a:lstStyle/>
          <a:p>
            <a:pPr algn="r" indent="0" marL="0">
              <a:buNone/>
            </a:pPr>
            <a:r>
              <a:rPr lang="en-US" sz="1000" dirty="0">
                <a:solidFill>
                  <a:srgbClr val="8FA4CC"/>
                </a:solidFill>
                <a:latin typeface="Calibri" pitchFamily="34" charset="0"/>
                <a:ea typeface="Calibri" pitchFamily="34" charset="-122"/>
                <a:cs typeface="Calibri" pitchFamily="34" charset="-120"/>
              </a:rPr>
              <a:t>03 / 19</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493776"/>
            <a:ext cx="8229600" cy="256032"/>
          </a:xfrm>
          <a:prstGeom prst="rect">
            <a:avLst/>
          </a:prstGeom>
          <a:noFill/>
          <a:ln/>
        </p:spPr>
        <p:txBody>
          <a:bodyPr wrap="square" lIns="0" tIns="0" rIns="0" bIns="0" rtlCol="0" anchor="ctr"/>
          <a:lstStyle/>
          <a:p>
            <a:pPr indent="0" marL="0">
              <a:buNone/>
            </a:pPr>
            <a:r>
              <a:rPr lang="en-US" sz="1100" b="1" spc="220" kern="0" dirty="0">
                <a:solidFill>
                  <a:srgbClr val="1E2761"/>
                </a:solidFill>
                <a:latin typeface="Calibri" pitchFamily="34" charset="0"/>
                <a:ea typeface="Calibri" pitchFamily="34" charset="-122"/>
                <a:cs typeface="Calibri" pitchFamily="34" charset="-120"/>
              </a:rPr>
              <a:t>ALCANCE Y MÉTODO</a:t>
            </a:r>
            <a:endParaRPr lang="en-US" sz="1100" dirty="0"/>
          </a:p>
        </p:txBody>
      </p:sp>
      <p:sp>
        <p:nvSpPr>
          <p:cNvPr id="3" name="Text 1"/>
          <p:cNvSpPr/>
          <p:nvPr/>
        </p:nvSpPr>
        <p:spPr>
          <a:xfrm>
            <a:off x="566928" y="786384"/>
            <a:ext cx="10424160" cy="749808"/>
          </a:xfrm>
          <a:prstGeom prst="rect">
            <a:avLst/>
          </a:prstGeom>
          <a:noFill/>
          <a:ln/>
        </p:spPr>
        <p:txBody>
          <a:bodyPr wrap="square" lIns="0" tIns="0" rIns="0" bIns="0" rtlCol="0" anchor="ctr"/>
          <a:lstStyle/>
          <a:p>
            <a:pPr indent="0" marL="0">
              <a:buNone/>
            </a:pPr>
            <a:r>
              <a:rPr lang="en-US" sz="3400" b="1" dirty="0">
                <a:solidFill>
                  <a:srgbClr val="16181D"/>
                </a:solidFill>
                <a:latin typeface="Cambria" pitchFamily="34" charset="0"/>
                <a:ea typeface="Cambria" pitchFamily="34" charset="-122"/>
                <a:cs typeface="Cambria" pitchFamily="34" charset="-120"/>
              </a:rPr>
              <a:t>Seis dimensiones, una pregunta cada una</a:t>
            </a:r>
            <a:endParaRPr lang="en-US" sz="3400" dirty="0"/>
          </a:p>
        </p:txBody>
      </p:sp>
      <p:sp>
        <p:nvSpPr>
          <p:cNvPr id="4" name="Text 2"/>
          <p:cNvSpPr/>
          <p:nvPr/>
        </p:nvSpPr>
        <p:spPr>
          <a:xfrm>
            <a:off x="566928" y="1554480"/>
            <a:ext cx="10424160" cy="365760"/>
          </a:xfrm>
          <a:prstGeom prst="rect">
            <a:avLst/>
          </a:prstGeom>
          <a:noFill/>
          <a:ln/>
        </p:spPr>
        <p:txBody>
          <a:bodyPr wrap="square" lIns="0" tIns="0" rIns="0" bIns="0" rtlCol="0" anchor="t"/>
          <a:lstStyle/>
          <a:p>
            <a:pPr indent="0" marL="0">
              <a:buNone/>
            </a:pPr>
            <a:r>
              <a:rPr lang="en-US" sz="1400" dirty="0">
                <a:solidFill>
                  <a:srgbClr val="6B7684"/>
                </a:solidFill>
                <a:latin typeface="Calibri" pitchFamily="34" charset="0"/>
                <a:ea typeface="Calibri" pitchFamily="34" charset="-122"/>
                <a:cs typeface="Calibri" pitchFamily="34" charset="-120"/>
              </a:rPr>
              <a:t>Cada hallazgo se cuantificó con el número exacto de registros afectados y su porcentaje sobre el total.</a:t>
            </a:r>
            <a:endParaRPr lang="en-US" sz="1400" dirty="0"/>
          </a:p>
        </p:txBody>
      </p:sp>
      <p:sp>
        <p:nvSpPr>
          <p:cNvPr id="5" name="Shape 3"/>
          <p:cNvSpPr/>
          <p:nvPr/>
        </p:nvSpPr>
        <p:spPr>
          <a:xfrm>
            <a:off x="566928" y="2103120"/>
            <a:ext cx="3429000" cy="1645920"/>
          </a:xfrm>
          <a:prstGeom prst="roundRect">
            <a:avLst>
              <a:gd name="adj" fmla="val 3333"/>
            </a:avLst>
          </a:prstGeom>
          <a:solidFill>
            <a:srgbClr val="FFFFFF"/>
          </a:solidFill>
          <a:ln w="12700">
            <a:solidFill>
              <a:srgbClr val="DDE4EE"/>
            </a:solidFill>
            <a:prstDash val="solid"/>
          </a:ln>
          <a:effectLst>
            <a:outerShdw sx="100000" sy="100000" kx="0" ky="0" algn="bl" rotWithShape="0" blurRad="101600" dist="25400" dir="5400000">
              <a:srgbClr val="000000">
                <a:alpha val="10000"/>
              </a:srgbClr>
            </a:outerShdw>
          </a:effectLst>
        </p:spPr>
      </p:sp>
      <p:sp>
        <p:nvSpPr>
          <p:cNvPr id="6" name="Text 4"/>
          <p:cNvSpPr/>
          <p:nvPr/>
        </p:nvSpPr>
        <p:spPr>
          <a:xfrm>
            <a:off x="822960" y="2286000"/>
            <a:ext cx="2926080"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Completitud</a:t>
            </a:r>
            <a:endParaRPr lang="en-US" sz="1700" dirty="0"/>
          </a:p>
        </p:txBody>
      </p:sp>
      <p:sp>
        <p:nvSpPr>
          <p:cNvPr id="7" name="Text 5"/>
          <p:cNvSpPr/>
          <p:nvPr/>
        </p:nvSpPr>
        <p:spPr>
          <a:xfrm>
            <a:off x="822960" y="2651760"/>
            <a:ext cx="2926080" cy="457200"/>
          </a:xfrm>
          <a:prstGeom prst="rect">
            <a:avLst/>
          </a:prstGeom>
          <a:noFill/>
          <a:ln/>
        </p:spPr>
        <p:txBody>
          <a:bodyPr wrap="square" lIns="0" tIns="0" rIns="0" bIns="0" rtlCol="0" anchor="t"/>
          <a:lstStyle/>
          <a:p>
            <a:pPr indent="0" marL="0">
              <a:buNone/>
            </a:pPr>
            <a:r>
              <a:rPr lang="en-US" sz="1200" dirty="0">
                <a:solidFill>
                  <a:srgbClr val="6B7684"/>
                </a:solidFill>
                <a:latin typeface="Calibri" pitchFamily="34" charset="0"/>
                <a:ea typeface="Calibri" pitchFamily="34" charset="-122"/>
                <a:cs typeface="Calibri" pitchFamily="34" charset="-120"/>
              </a:rPr>
              <a:t>¿Falta el dato?</a:t>
            </a:r>
            <a:endParaRPr lang="en-US" sz="1200" dirty="0"/>
          </a:p>
        </p:txBody>
      </p:sp>
      <p:sp>
        <p:nvSpPr>
          <p:cNvPr id="8" name="Text 6"/>
          <p:cNvSpPr/>
          <p:nvPr/>
        </p:nvSpPr>
        <p:spPr>
          <a:xfrm>
            <a:off x="822960" y="3182112"/>
            <a:ext cx="2926080" cy="365760"/>
          </a:xfrm>
          <a:prstGeom prst="rect">
            <a:avLst/>
          </a:prstGeom>
          <a:noFill/>
          <a:ln/>
        </p:spPr>
        <p:txBody>
          <a:bodyPr wrap="square" lIns="0" tIns="0" rIns="0" bIns="0" rtlCol="0" anchor="ctr"/>
          <a:lstStyle/>
          <a:p>
            <a:pPr indent="0" marL="0">
              <a:buNone/>
            </a:pPr>
            <a:r>
              <a:rPr lang="en-US" sz="1500" b="1" dirty="0">
                <a:solidFill>
                  <a:srgbClr val="16181D"/>
                </a:solidFill>
                <a:latin typeface="Calibri" pitchFamily="34" charset="0"/>
                <a:ea typeface="Calibri" pitchFamily="34" charset="-122"/>
                <a:cs typeface="Calibri" pitchFamily="34" charset="-120"/>
              </a:rPr>
              <a:t>321.493</a:t>
            </a:r>
            <a:pPr indent="0" marL="0">
              <a:buNone/>
            </a:pPr>
            <a:r>
              <a:rPr lang="en-US" sz="1100" dirty="0">
                <a:solidFill>
                  <a:srgbClr val="6B7684"/>
                </a:solidFill>
                <a:latin typeface="Calibri" pitchFamily="34" charset="0"/>
                <a:ea typeface="Calibri" pitchFamily="34" charset="-122"/>
                <a:cs typeface="Calibri" pitchFamily="34" charset="-120"/>
              </a:rPr>
              <a:t>  registros  ·  7 problemas</a:t>
            </a:r>
            <a:endParaRPr lang="en-US" sz="1500" dirty="0"/>
          </a:p>
        </p:txBody>
      </p:sp>
      <p:sp>
        <p:nvSpPr>
          <p:cNvPr id="9" name="Shape 7"/>
          <p:cNvSpPr/>
          <p:nvPr/>
        </p:nvSpPr>
        <p:spPr>
          <a:xfrm>
            <a:off x="4270248" y="2103120"/>
            <a:ext cx="3429000" cy="1645920"/>
          </a:xfrm>
          <a:prstGeom prst="roundRect">
            <a:avLst>
              <a:gd name="adj" fmla="val 3333"/>
            </a:avLst>
          </a:prstGeom>
          <a:solidFill>
            <a:srgbClr val="FFFFFF"/>
          </a:solidFill>
          <a:ln w="12700">
            <a:solidFill>
              <a:srgbClr val="DDE4EE"/>
            </a:solidFill>
            <a:prstDash val="solid"/>
          </a:ln>
          <a:effectLst>
            <a:outerShdw sx="100000" sy="100000" kx="0" ky="0" algn="bl" rotWithShape="0" blurRad="101600" dist="25400" dir="5400000">
              <a:srgbClr val="000000">
                <a:alpha val="10000"/>
              </a:srgbClr>
            </a:outerShdw>
          </a:effectLst>
        </p:spPr>
      </p:sp>
      <p:sp>
        <p:nvSpPr>
          <p:cNvPr id="10" name="Text 8"/>
          <p:cNvSpPr/>
          <p:nvPr/>
        </p:nvSpPr>
        <p:spPr>
          <a:xfrm>
            <a:off x="4526280" y="2286000"/>
            <a:ext cx="2926080"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Unicidad</a:t>
            </a:r>
            <a:endParaRPr lang="en-US" sz="1700" dirty="0"/>
          </a:p>
        </p:txBody>
      </p:sp>
      <p:sp>
        <p:nvSpPr>
          <p:cNvPr id="11" name="Text 9"/>
          <p:cNvSpPr/>
          <p:nvPr/>
        </p:nvSpPr>
        <p:spPr>
          <a:xfrm>
            <a:off x="4526280" y="2651760"/>
            <a:ext cx="2926080" cy="457200"/>
          </a:xfrm>
          <a:prstGeom prst="rect">
            <a:avLst/>
          </a:prstGeom>
          <a:noFill/>
          <a:ln/>
        </p:spPr>
        <p:txBody>
          <a:bodyPr wrap="square" lIns="0" tIns="0" rIns="0" bIns="0" rtlCol="0" anchor="t"/>
          <a:lstStyle/>
          <a:p>
            <a:pPr indent="0" marL="0">
              <a:buNone/>
            </a:pPr>
            <a:r>
              <a:rPr lang="en-US" sz="1200" dirty="0">
                <a:solidFill>
                  <a:srgbClr val="6B7684"/>
                </a:solidFill>
                <a:latin typeface="Calibri" pitchFamily="34" charset="0"/>
                <a:ea typeface="Calibri" pitchFamily="34" charset="-122"/>
                <a:cs typeface="Calibri" pitchFamily="34" charset="-120"/>
              </a:rPr>
              <a:t>¿El registro está repetido?</a:t>
            </a:r>
            <a:endParaRPr lang="en-US" sz="1200" dirty="0"/>
          </a:p>
        </p:txBody>
      </p:sp>
      <p:sp>
        <p:nvSpPr>
          <p:cNvPr id="12" name="Text 10"/>
          <p:cNvSpPr/>
          <p:nvPr/>
        </p:nvSpPr>
        <p:spPr>
          <a:xfrm>
            <a:off x="4526280" y="3182112"/>
            <a:ext cx="2926080" cy="365760"/>
          </a:xfrm>
          <a:prstGeom prst="rect">
            <a:avLst/>
          </a:prstGeom>
          <a:noFill/>
          <a:ln/>
        </p:spPr>
        <p:txBody>
          <a:bodyPr wrap="square" lIns="0" tIns="0" rIns="0" bIns="0" rtlCol="0" anchor="ctr"/>
          <a:lstStyle/>
          <a:p>
            <a:pPr indent="0" marL="0">
              <a:buNone/>
            </a:pPr>
            <a:r>
              <a:rPr lang="en-US" sz="1500" b="1" dirty="0">
                <a:solidFill>
                  <a:srgbClr val="16181D"/>
                </a:solidFill>
                <a:latin typeface="Calibri" pitchFamily="34" charset="0"/>
                <a:ea typeface="Calibri" pitchFamily="34" charset="-122"/>
                <a:cs typeface="Calibri" pitchFamily="34" charset="-120"/>
              </a:rPr>
              <a:t>20.000</a:t>
            </a:r>
            <a:pPr indent="0" marL="0">
              <a:buNone/>
            </a:pPr>
            <a:r>
              <a:rPr lang="en-US" sz="1100" dirty="0">
                <a:solidFill>
                  <a:srgbClr val="6B7684"/>
                </a:solidFill>
                <a:latin typeface="Calibri" pitchFamily="34" charset="0"/>
                <a:ea typeface="Calibri" pitchFamily="34" charset="-122"/>
                <a:cs typeface="Calibri" pitchFamily="34" charset="-120"/>
              </a:rPr>
              <a:t>  registros  ·  1 problema</a:t>
            </a:r>
            <a:endParaRPr lang="en-US" sz="1500" dirty="0"/>
          </a:p>
        </p:txBody>
      </p:sp>
      <p:sp>
        <p:nvSpPr>
          <p:cNvPr id="13" name="Shape 11"/>
          <p:cNvSpPr/>
          <p:nvPr/>
        </p:nvSpPr>
        <p:spPr>
          <a:xfrm>
            <a:off x="7973568" y="2103120"/>
            <a:ext cx="3429000" cy="1645920"/>
          </a:xfrm>
          <a:prstGeom prst="roundRect">
            <a:avLst>
              <a:gd name="adj" fmla="val 3333"/>
            </a:avLst>
          </a:prstGeom>
          <a:solidFill>
            <a:srgbClr val="FFFFFF"/>
          </a:solidFill>
          <a:ln w="12700">
            <a:solidFill>
              <a:srgbClr val="DDE4EE"/>
            </a:solidFill>
            <a:prstDash val="solid"/>
          </a:ln>
          <a:effectLst>
            <a:outerShdw sx="100000" sy="100000" kx="0" ky="0" algn="bl" rotWithShape="0" blurRad="101600" dist="25400" dir="5400000">
              <a:srgbClr val="000000">
                <a:alpha val="10000"/>
              </a:srgbClr>
            </a:outerShdw>
          </a:effectLst>
        </p:spPr>
      </p:sp>
      <p:sp>
        <p:nvSpPr>
          <p:cNvPr id="14" name="Text 12"/>
          <p:cNvSpPr/>
          <p:nvPr/>
        </p:nvSpPr>
        <p:spPr>
          <a:xfrm>
            <a:off x="8229600" y="2286000"/>
            <a:ext cx="2926080"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Validez</a:t>
            </a:r>
            <a:endParaRPr lang="en-US" sz="1700" dirty="0"/>
          </a:p>
        </p:txBody>
      </p:sp>
      <p:sp>
        <p:nvSpPr>
          <p:cNvPr id="15" name="Text 13"/>
          <p:cNvSpPr/>
          <p:nvPr/>
        </p:nvSpPr>
        <p:spPr>
          <a:xfrm>
            <a:off x="8229600" y="2651760"/>
            <a:ext cx="2926080" cy="457200"/>
          </a:xfrm>
          <a:prstGeom prst="rect">
            <a:avLst/>
          </a:prstGeom>
          <a:noFill/>
          <a:ln/>
        </p:spPr>
        <p:txBody>
          <a:bodyPr wrap="square" lIns="0" tIns="0" rIns="0" bIns="0" rtlCol="0" anchor="t"/>
          <a:lstStyle/>
          <a:p>
            <a:pPr indent="0" marL="0">
              <a:buNone/>
            </a:pPr>
            <a:r>
              <a:rPr lang="en-US" sz="1200" dirty="0">
                <a:solidFill>
                  <a:srgbClr val="6B7684"/>
                </a:solidFill>
                <a:latin typeface="Calibri" pitchFamily="34" charset="0"/>
                <a:ea typeface="Calibri" pitchFamily="34" charset="-122"/>
                <a:cs typeface="Calibri" pitchFamily="34" charset="-120"/>
              </a:rPr>
              <a:t>¿Rompe el formato del campo?</a:t>
            </a:r>
            <a:endParaRPr lang="en-US" sz="1200" dirty="0"/>
          </a:p>
        </p:txBody>
      </p:sp>
      <p:sp>
        <p:nvSpPr>
          <p:cNvPr id="16" name="Text 14"/>
          <p:cNvSpPr/>
          <p:nvPr/>
        </p:nvSpPr>
        <p:spPr>
          <a:xfrm>
            <a:off x="8229600" y="3182112"/>
            <a:ext cx="2926080" cy="365760"/>
          </a:xfrm>
          <a:prstGeom prst="rect">
            <a:avLst/>
          </a:prstGeom>
          <a:noFill/>
          <a:ln/>
        </p:spPr>
        <p:txBody>
          <a:bodyPr wrap="square" lIns="0" tIns="0" rIns="0" bIns="0" rtlCol="0" anchor="ctr"/>
          <a:lstStyle/>
          <a:p>
            <a:pPr indent="0" marL="0">
              <a:buNone/>
            </a:pPr>
            <a:r>
              <a:rPr lang="en-US" sz="1500" b="1" dirty="0">
                <a:solidFill>
                  <a:srgbClr val="16181D"/>
                </a:solidFill>
                <a:latin typeface="Calibri" pitchFamily="34" charset="0"/>
                <a:ea typeface="Calibri" pitchFamily="34" charset="-122"/>
                <a:cs typeface="Calibri" pitchFamily="34" charset="-120"/>
              </a:rPr>
              <a:t>74.219</a:t>
            </a:r>
            <a:pPr indent="0" marL="0">
              <a:buNone/>
            </a:pPr>
            <a:r>
              <a:rPr lang="en-US" sz="1100" dirty="0">
                <a:solidFill>
                  <a:srgbClr val="6B7684"/>
                </a:solidFill>
                <a:latin typeface="Calibri" pitchFamily="34" charset="0"/>
                <a:ea typeface="Calibri" pitchFamily="34" charset="-122"/>
                <a:cs typeface="Calibri" pitchFamily="34" charset="-120"/>
              </a:rPr>
              <a:t>  registros  ·  2 problemas</a:t>
            </a:r>
            <a:endParaRPr lang="en-US" sz="1500" dirty="0"/>
          </a:p>
        </p:txBody>
      </p:sp>
      <p:sp>
        <p:nvSpPr>
          <p:cNvPr id="17" name="Shape 15"/>
          <p:cNvSpPr/>
          <p:nvPr/>
        </p:nvSpPr>
        <p:spPr>
          <a:xfrm>
            <a:off x="566928" y="3977640"/>
            <a:ext cx="3429000" cy="1645920"/>
          </a:xfrm>
          <a:prstGeom prst="roundRect">
            <a:avLst>
              <a:gd name="adj" fmla="val 3333"/>
            </a:avLst>
          </a:prstGeom>
          <a:solidFill>
            <a:srgbClr val="FFFFFF"/>
          </a:solidFill>
          <a:ln w="12700">
            <a:solidFill>
              <a:srgbClr val="DDE4EE"/>
            </a:solidFill>
            <a:prstDash val="solid"/>
          </a:ln>
          <a:effectLst>
            <a:outerShdw sx="100000" sy="100000" kx="0" ky="0" algn="bl" rotWithShape="0" blurRad="101600" dist="25400" dir="5400000">
              <a:srgbClr val="000000">
                <a:alpha val="10000"/>
              </a:srgbClr>
            </a:outerShdw>
          </a:effectLst>
        </p:spPr>
      </p:sp>
      <p:sp>
        <p:nvSpPr>
          <p:cNvPr id="18" name="Text 16"/>
          <p:cNvSpPr/>
          <p:nvPr/>
        </p:nvSpPr>
        <p:spPr>
          <a:xfrm>
            <a:off x="822960" y="4160520"/>
            <a:ext cx="2926080"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Consistencia</a:t>
            </a:r>
            <a:endParaRPr lang="en-US" sz="1700" dirty="0"/>
          </a:p>
        </p:txBody>
      </p:sp>
      <p:sp>
        <p:nvSpPr>
          <p:cNvPr id="19" name="Text 17"/>
          <p:cNvSpPr/>
          <p:nvPr/>
        </p:nvSpPr>
        <p:spPr>
          <a:xfrm>
            <a:off x="822960" y="4526280"/>
            <a:ext cx="2926080" cy="457200"/>
          </a:xfrm>
          <a:prstGeom prst="rect">
            <a:avLst/>
          </a:prstGeom>
          <a:noFill/>
          <a:ln/>
        </p:spPr>
        <p:txBody>
          <a:bodyPr wrap="square" lIns="0" tIns="0" rIns="0" bIns="0" rtlCol="0" anchor="t"/>
          <a:lstStyle/>
          <a:p>
            <a:pPr indent="0" marL="0">
              <a:buNone/>
            </a:pPr>
            <a:r>
              <a:rPr lang="en-US" sz="1200" dirty="0">
                <a:solidFill>
                  <a:srgbClr val="6B7684"/>
                </a:solidFill>
                <a:latin typeface="Calibri" pitchFamily="34" charset="0"/>
                <a:ea typeface="Calibri" pitchFamily="34" charset="-122"/>
                <a:cs typeface="Calibri" pitchFamily="34" charset="-120"/>
              </a:rPr>
              <a:t>¿Coinciden los campos entre sí?</a:t>
            </a:r>
            <a:endParaRPr lang="en-US" sz="1200" dirty="0"/>
          </a:p>
        </p:txBody>
      </p:sp>
      <p:sp>
        <p:nvSpPr>
          <p:cNvPr id="20" name="Text 18"/>
          <p:cNvSpPr/>
          <p:nvPr/>
        </p:nvSpPr>
        <p:spPr>
          <a:xfrm>
            <a:off x="822960" y="5056632"/>
            <a:ext cx="2926080" cy="365760"/>
          </a:xfrm>
          <a:prstGeom prst="rect">
            <a:avLst/>
          </a:prstGeom>
          <a:noFill/>
          <a:ln/>
        </p:spPr>
        <p:txBody>
          <a:bodyPr wrap="square" lIns="0" tIns="0" rIns="0" bIns="0" rtlCol="0" anchor="ctr"/>
          <a:lstStyle/>
          <a:p>
            <a:pPr indent="0" marL="0">
              <a:buNone/>
            </a:pPr>
            <a:r>
              <a:rPr lang="en-US" sz="1500" b="1" dirty="0">
                <a:solidFill>
                  <a:srgbClr val="16181D"/>
                </a:solidFill>
                <a:latin typeface="Calibri" pitchFamily="34" charset="0"/>
                <a:ea typeface="Calibri" pitchFamily="34" charset="-122"/>
                <a:cs typeface="Calibri" pitchFamily="34" charset="-120"/>
              </a:rPr>
              <a:t>1.041.825</a:t>
            </a:r>
            <a:pPr indent="0" marL="0">
              <a:buNone/>
            </a:pPr>
            <a:r>
              <a:rPr lang="en-US" sz="1100" dirty="0">
                <a:solidFill>
                  <a:srgbClr val="6B7684"/>
                </a:solidFill>
                <a:latin typeface="Calibri" pitchFamily="34" charset="0"/>
                <a:ea typeface="Calibri" pitchFamily="34" charset="-122"/>
                <a:cs typeface="Calibri" pitchFamily="34" charset="-120"/>
              </a:rPr>
              <a:t>  registros  ·  6 problemas</a:t>
            </a:r>
            <a:endParaRPr lang="en-US" sz="1500" dirty="0"/>
          </a:p>
        </p:txBody>
      </p:sp>
      <p:sp>
        <p:nvSpPr>
          <p:cNvPr id="21" name="Shape 19"/>
          <p:cNvSpPr/>
          <p:nvPr/>
        </p:nvSpPr>
        <p:spPr>
          <a:xfrm>
            <a:off x="4270248" y="3977640"/>
            <a:ext cx="3429000" cy="1645920"/>
          </a:xfrm>
          <a:prstGeom prst="roundRect">
            <a:avLst>
              <a:gd name="adj" fmla="val 3333"/>
            </a:avLst>
          </a:prstGeom>
          <a:solidFill>
            <a:srgbClr val="FFFFFF"/>
          </a:solidFill>
          <a:ln w="12700">
            <a:solidFill>
              <a:srgbClr val="DDE4EE"/>
            </a:solidFill>
            <a:prstDash val="solid"/>
          </a:ln>
          <a:effectLst>
            <a:outerShdw sx="100000" sy="100000" kx="0" ky="0" algn="bl" rotWithShape="0" blurRad="101600" dist="25400" dir="5400000">
              <a:srgbClr val="000000">
                <a:alpha val="10000"/>
              </a:srgbClr>
            </a:outerShdw>
          </a:effectLst>
        </p:spPr>
      </p:sp>
      <p:sp>
        <p:nvSpPr>
          <p:cNvPr id="22" name="Text 20"/>
          <p:cNvSpPr/>
          <p:nvPr/>
        </p:nvSpPr>
        <p:spPr>
          <a:xfrm>
            <a:off x="4526280" y="4160520"/>
            <a:ext cx="2926080"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Exactitud</a:t>
            </a:r>
            <a:endParaRPr lang="en-US" sz="1700" dirty="0"/>
          </a:p>
        </p:txBody>
      </p:sp>
      <p:sp>
        <p:nvSpPr>
          <p:cNvPr id="23" name="Text 21"/>
          <p:cNvSpPr/>
          <p:nvPr/>
        </p:nvSpPr>
        <p:spPr>
          <a:xfrm>
            <a:off x="4526280" y="4526280"/>
            <a:ext cx="2926080" cy="457200"/>
          </a:xfrm>
          <a:prstGeom prst="rect">
            <a:avLst/>
          </a:prstGeom>
          <a:noFill/>
          <a:ln/>
        </p:spPr>
        <p:txBody>
          <a:bodyPr wrap="square" lIns="0" tIns="0" rIns="0" bIns="0" rtlCol="0" anchor="t"/>
          <a:lstStyle/>
          <a:p>
            <a:pPr indent="0" marL="0">
              <a:buNone/>
            </a:pPr>
            <a:r>
              <a:rPr lang="en-US" sz="1200" dirty="0">
                <a:solidFill>
                  <a:srgbClr val="6B7684"/>
                </a:solidFill>
                <a:latin typeface="Calibri" pitchFamily="34" charset="0"/>
                <a:ea typeface="Calibri" pitchFamily="34" charset="-122"/>
                <a:cs typeface="Calibri" pitchFamily="34" charset="-120"/>
              </a:rPr>
              <a:t>¿Corresponde a la realidad?</a:t>
            </a:r>
            <a:endParaRPr lang="en-US" sz="1200" dirty="0"/>
          </a:p>
        </p:txBody>
      </p:sp>
      <p:sp>
        <p:nvSpPr>
          <p:cNvPr id="24" name="Text 22"/>
          <p:cNvSpPr/>
          <p:nvPr/>
        </p:nvSpPr>
        <p:spPr>
          <a:xfrm>
            <a:off x="4526280" y="5056632"/>
            <a:ext cx="2926080" cy="365760"/>
          </a:xfrm>
          <a:prstGeom prst="rect">
            <a:avLst/>
          </a:prstGeom>
          <a:noFill/>
          <a:ln/>
        </p:spPr>
        <p:txBody>
          <a:bodyPr wrap="square" lIns="0" tIns="0" rIns="0" bIns="0" rtlCol="0" anchor="ctr"/>
          <a:lstStyle/>
          <a:p>
            <a:pPr indent="0" marL="0">
              <a:buNone/>
            </a:pPr>
            <a:r>
              <a:rPr lang="en-US" sz="1500" b="1" dirty="0">
                <a:solidFill>
                  <a:srgbClr val="16181D"/>
                </a:solidFill>
                <a:latin typeface="Calibri" pitchFamily="34" charset="0"/>
                <a:ea typeface="Calibri" pitchFamily="34" charset="-122"/>
                <a:cs typeface="Calibri" pitchFamily="34" charset="-120"/>
              </a:rPr>
              <a:t>1.613.170</a:t>
            </a:r>
            <a:pPr indent="0" marL="0">
              <a:buNone/>
            </a:pPr>
            <a:r>
              <a:rPr lang="en-US" sz="1100" dirty="0">
                <a:solidFill>
                  <a:srgbClr val="6B7684"/>
                </a:solidFill>
                <a:latin typeface="Calibri" pitchFamily="34" charset="0"/>
                <a:ea typeface="Calibri" pitchFamily="34" charset="-122"/>
                <a:cs typeface="Calibri" pitchFamily="34" charset="-120"/>
              </a:rPr>
              <a:t>  registros  ·  12 problemas</a:t>
            </a:r>
            <a:endParaRPr lang="en-US" sz="1500" dirty="0"/>
          </a:p>
        </p:txBody>
      </p:sp>
      <p:sp>
        <p:nvSpPr>
          <p:cNvPr id="25" name="Shape 23"/>
          <p:cNvSpPr/>
          <p:nvPr/>
        </p:nvSpPr>
        <p:spPr>
          <a:xfrm>
            <a:off x="7973568" y="3977640"/>
            <a:ext cx="3429000" cy="1645920"/>
          </a:xfrm>
          <a:prstGeom prst="roundRect">
            <a:avLst>
              <a:gd name="adj" fmla="val 3333"/>
            </a:avLst>
          </a:prstGeom>
          <a:solidFill>
            <a:srgbClr val="FFFFFF"/>
          </a:solidFill>
          <a:ln w="12700">
            <a:solidFill>
              <a:srgbClr val="DDE4EE"/>
            </a:solidFill>
            <a:prstDash val="solid"/>
          </a:ln>
          <a:effectLst>
            <a:outerShdw sx="100000" sy="100000" kx="0" ky="0" algn="bl" rotWithShape="0" blurRad="101600" dist="25400" dir="5400000">
              <a:srgbClr val="000000">
                <a:alpha val="10000"/>
              </a:srgbClr>
            </a:outerShdw>
          </a:effectLst>
        </p:spPr>
      </p:sp>
      <p:sp>
        <p:nvSpPr>
          <p:cNvPr id="26" name="Text 24"/>
          <p:cNvSpPr/>
          <p:nvPr/>
        </p:nvSpPr>
        <p:spPr>
          <a:xfrm>
            <a:off x="8229600" y="4160520"/>
            <a:ext cx="2926080"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Oportunidad</a:t>
            </a:r>
            <a:endParaRPr lang="en-US" sz="1700" dirty="0"/>
          </a:p>
        </p:txBody>
      </p:sp>
      <p:sp>
        <p:nvSpPr>
          <p:cNvPr id="27" name="Text 25"/>
          <p:cNvSpPr/>
          <p:nvPr/>
        </p:nvSpPr>
        <p:spPr>
          <a:xfrm>
            <a:off x="8229600" y="4526280"/>
            <a:ext cx="2926080" cy="457200"/>
          </a:xfrm>
          <a:prstGeom prst="rect">
            <a:avLst/>
          </a:prstGeom>
          <a:noFill/>
          <a:ln/>
        </p:spPr>
        <p:txBody>
          <a:bodyPr wrap="square" lIns="0" tIns="0" rIns="0" bIns="0" rtlCol="0" anchor="t"/>
          <a:lstStyle/>
          <a:p>
            <a:pPr indent="0" marL="0">
              <a:buNone/>
            </a:pPr>
            <a:r>
              <a:rPr lang="en-US" sz="1200" dirty="0">
                <a:solidFill>
                  <a:srgbClr val="6B7684"/>
                </a:solidFill>
                <a:latin typeface="Calibri" pitchFamily="34" charset="0"/>
                <a:ea typeface="Calibri" pitchFamily="34" charset="-122"/>
                <a:cs typeface="Calibri" pitchFamily="34" charset="-120"/>
              </a:rPr>
              <a:t>¿El dato está vigente?</a:t>
            </a:r>
            <a:endParaRPr lang="en-US" sz="1200" dirty="0"/>
          </a:p>
        </p:txBody>
      </p:sp>
      <p:sp>
        <p:nvSpPr>
          <p:cNvPr id="28" name="Text 26"/>
          <p:cNvSpPr/>
          <p:nvPr/>
        </p:nvSpPr>
        <p:spPr>
          <a:xfrm>
            <a:off x="8229600" y="5056632"/>
            <a:ext cx="2926080" cy="365760"/>
          </a:xfrm>
          <a:prstGeom prst="rect">
            <a:avLst/>
          </a:prstGeom>
          <a:noFill/>
          <a:ln/>
        </p:spPr>
        <p:txBody>
          <a:bodyPr wrap="square" lIns="0" tIns="0" rIns="0" bIns="0" rtlCol="0" anchor="ctr"/>
          <a:lstStyle/>
          <a:p>
            <a:pPr indent="0" marL="0">
              <a:buNone/>
            </a:pPr>
            <a:r>
              <a:rPr lang="en-US" sz="1500" b="1" dirty="0">
                <a:solidFill>
                  <a:srgbClr val="16181D"/>
                </a:solidFill>
                <a:latin typeface="Calibri" pitchFamily="34" charset="0"/>
                <a:ea typeface="Calibri" pitchFamily="34" charset="-122"/>
                <a:cs typeface="Calibri" pitchFamily="34" charset="-120"/>
              </a:rPr>
              <a:t>770.386</a:t>
            </a:r>
            <a:pPr indent="0" marL="0">
              <a:buNone/>
            </a:pPr>
            <a:r>
              <a:rPr lang="en-US" sz="1100" dirty="0">
                <a:solidFill>
                  <a:srgbClr val="6B7684"/>
                </a:solidFill>
                <a:latin typeface="Calibri" pitchFamily="34" charset="0"/>
                <a:ea typeface="Calibri" pitchFamily="34" charset="-122"/>
                <a:cs typeface="Calibri" pitchFamily="34" charset="-120"/>
              </a:rPr>
              <a:t>  registros  ·  7 problemas</a:t>
            </a:r>
            <a:endParaRPr lang="en-US" sz="1500" dirty="0"/>
          </a:p>
        </p:txBody>
      </p:sp>
      <p:sp>
        <p:nvSpPr>
          <p:cNvPr id="29" name="Text 27"/>
          <p:cNvSpPr/>
          <p:nvPr/>
        </p:nvSpPr>
        <p:spPr>
          <a:xfrm>
            <a:off x="566928" y="6181344"/>
            <a:ext cx="9509760" cy="292608"/>
          </a:xfrm>
          <a:prstGeom prst="rect">
            <a:avLst/>
          </a:prstGeom>
          <a:noFill/>
          <a:ln/>
        </p:spPr>
        <p:txBody>
          <a:bodyPr wrap="square" lIns="0" tIns="0" rIns="0" bIns="0" rtlCol="0" anchor="ctr"/>
          <a:lstStyle/>
          <a:p>
            <a:pPr indent="0" marL="0">
              <a:buNone/>
            </a:pPr>
            <a:r>
              <a:rPr lang="en-US" sz="1000" dirty="0">
                <a:solidFill>
                  <a:srgbClr val="6B7684"/>
                </a:solidFill>
                <a:latin typeface="Calibri" pitchFamily="34" charset="0"/>
                <a:ea typeface="Calibri" pitchFamily="34" charset="-122"/>
                <a:cs typeface="Calibri" pitchFamily="34" charset="-120"/>
              </a:rPr>
              <a:t>Las cifras son sumas de registros por dimensión: un mismo registro puede caer en varios problemas, por lo que la suma excede las 640.000 filas del archivo</a:t>
            </a:r>
            <a:endParaRPr lang="en-US" sz="1000" dirty="0"/>
          </a:p>
        </p:txBody>
      </p:sp>
      <p:sp>
        <p:nvSpPr>
          <p:cNvPr id="30" name="Text 28"/>
          <p:cNvSpPr/>
          <p:nvPr/>
        </p:nvSpPr>
        <p:spPr>
          <a:xfrm>
            <a:off x="10820095" y="6181344"/>
            <a:ext cx="822960" cy="292608"/>
          </a:xfrm>
          <a:prstGeom prst="rect">
            <a:avLst/>
          </a:prstGeom>
          <a:noFill/>
          <a:ln/>
        </p:spPr>
        <p:txBody>
          <a:bodyPr wrap="square" lIns="0" tIns="0" rIns="0" bIns="0" rtlCol="0" anchor="ctr"/>
          <a:lstStyle/>
          <a:p>
            <a:pPr algn="r" indent="0" marL="0">
              <a:buNone/>
            </a:pPr>
            <a:r>
              <a:rPr lang="en-US" sz="1000" dirty="0">
                <a:solidFill>
                  <a:srgbClr val="6B7684"/>
                </a:solidFill>
                <a:latin typeface="Calibri" pitchFamily="34" charset="0"/>
                <a:ea typeface="Calibri" pitchFamily="34" charset="-122"/>
                <a:cs typeface="Calibri" pitchFamily="34" charset="-120"/>
              </a:rPr>
              <a:t>04 / 19</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463040" y="3840480"/>
            <a:ext cx="4937760" cy="4937760"/>
          </a:xfrm>
          <a:prstGeom prst="ellipse">
            <a:avLst/>
          </a:prstGeom>
          <a:solidFill>
            <a:srgbClr val="2C3A73">
              <a:alpha val="50000"/>
            </a:srgbClr>
          </a:solidFill>
          <a:ln w="12700">
            <a:solidFill>
              <a:srgbClr val="2C3A73">
                <a:alpha val="0"/>
              </a:srgbClr>
            </a:solidFill>
            <a:prstDash val="solid"/>
          </a:ln>
        </p:spPr>
      </p:sp>
      <p:sp>
        <p:nvSpPr>
          <p:cNvPr id="3" name="Text 1"/>
          <p:cNvSpPr/>
          <p:nvPr/>
        </p:nvSpPr>
        <p:spPr>
          <a:xfrm>
            <a:off x="914400" y="2011680"/>
            <a:ext cx="1828800" cy="1188720"/>
          </a:xfrm>
          <a:prstGeom prst="rect">
            <a:avLst/>
          </a:prstGeom>
          <a:noFill/>
          <a:ln/>
        </p:spPr>
        <p:txBody>
          <a:bodyPr wrap="square" lIns="0" tIns="0" rIns="0" bIns="0" rtlCol="0" anchor="ctr"/>
          <a:lstStyle/>
          <a:p>
            <a:pPr indent="0" marL="0">
              <a:buNone/>
            </a:pPr>
            <a:r>
              <a:rPr lang="en-US" sz="7200" b="1" dirty="0">
                <a:solidFill>
                  <a:srgbClr val="6E86C9"/>
                </a:solidFill>
                <a:latin typeface="Calibri" pitchFamily="34" charset="0"/>
                <a:ea typeface="Calibri" pitchFamily="34" charset="-122"/>
                <a:cs typeface="Calibri" pitchFamily="34" charset="-120"/>
              </a:rPr>
              <a:t>01</a:t>
            </a:r>
            <a:endParaRPr lang="en-US" sz="7200" dirty="0"/>
          </a:p>
        </p:txBody>
      </p:sp>
      <p:sp>
        <p:nvSpPr>
          <p:cNvPr id="4" name="Text 2"/>
          <p:cNvSpPr/>
          <p:nvPr/>
        </p:nvSpPr>
        <p:spPr>
          <a:xfrm>
            <a:off x="914400" y="3108960"/>
            <a:ext cx="822960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Los hallazgos</a:t>
            </a:r>
            <a:endParaRPr lang="en-US" sz="4200" dirty="0"/>
          </a:p>
        </p:txBody>
      </p:sp>
      <p:sp>
        <p:nvSpPr>
          <p:cNvPr id="5" name="Text 3"/>
          <p:cNvSpPr/>
          <p:nvPr/>
        </p:nvSpPr>
        <p:spPr>
          <a:xfrm>
            <a:off x="914400" y="4023360"/>
            <a:ext cx="8686800" cy="45720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Panorama de las seis dimensiones y los tres problemas que deciden el dictamen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493776"/>
            <a:ext cx="8229600" cy="256032"/>
          </a:xfrm>
          <a:prstGeom prst="rect">
            <a:avLst/>
          </a:prstGeom>
          <a:noFill/>
          <a:ln/>
        </p:spPr>
        <p:txBody>
          <a:bodyPr wrap="square" lIns="0" tIns="0" rIns="0" bIns="0" rtlCol="0" anchor="ctr"/>
          <a:lstStyle/>
          <a:p>
            <a:pPr indent="0" marL="0">
              <a:buNone/>
            </a:pPr>
            <a:r>
              <a:rPr lang="en-US" sz="1100" b="1" spc="220" kern="0" dirty="0">
                <a:solidFill>
                  <a:srgbClr val="1E2761"/>
                </a:solidFill>
                <a:latin typeface="Calibri" pitchFamily="34" charset="0"/>
                <a:ea typeface="Calibri" pitchFamily="34" charset="-122"/>
                <a:cs typeface="Calibri" pitchFamily="34" charset="-120"/>
              </a:rPr>
              <a:t>PANORAMA</a:t>
            </a:r>
            <a:endParaRPr lang="en-US" sz="1100" dirty="0"/>
          </a:p>
        </p:txBody>
      </p:sp>
      <p:sp>
        <p:nvSpPr>
          <p:cNvPr id="3" name="Text 1"/>
          <p:cNvSpPr/>
          <p:nvPr/>
        </p:nvSpPr>
        <p:spPr>
          <a:xfrm>
            <a:off x="566928" y="786384"/>
            <a:ext cx="10424160" cy="749808"/>
          </a:xfrm>
          <a:prstGeom prst="rect">
            <a:avLst/>
          </a:prstGeom>
          <a:noFill/>
          <a:ln/>
        </p:spPr>
        <p:txBody>
          <a:bodyPr wrap="square" lIns="0" tIns="0" rIns="0" bIns="0" rtlCol="0" anchor="ctr"/>
          <a:lstStyle/>
          <a:p>
            <a:pPr indent="0" marL="0">
              <a:buNone/>
            </a:pPr>
            <a:r>
              <a:rPr lang="en-US" sz="3400" b="1" dirty="0">
                <a:solidFill>
                  <a:srgbClr val="16181D"/>
                </a:solidFill>
                <a:latin typeface="Cambria" pitchFamily="34" charset="0"/>
                <a:ea typeface="Cambria" pitchFamily="34" charset="-122"/>
                <a:cs typeface="Cambria" pitchFamily="34" charset="-120"/>
              </a:rPr>
              <a:t>Dónde se concentra el daño</a:t>
            </a:r>
            <a:endParaRPr lang="en-US" sz="3400" dirty="0"/>
          </a:p>
        </p:txBody>
      </p:sp>
      <p:graphicFrame>
        <p:nvGraphicFramePr>
          <p:cNvPr id="4" name="Chart 0" descr=""/>
          <p:cNvGraphicFramePr/>
          <p:nvPr/>
        </p:nvGraphicFramePr>
        <p:xfrm>
          <a:off x="566928" y="1965960"/>
          <a:ext cx="6858000" cy="4023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965960"/>
            <a:ext cx="3840480" cy="4023360"/>
          </a:xfrm>
          <a:prstGeom prst="roundRect">
            <a:avLst>
              <a:gd name="adj" fmla="val 1429"/>
            </a:avLst>
          </a:prstGeom>
          <a:solidFill>
            <a:srgbClr val="E8F0FC"/>
          </a:solidFill>
          <a:ln w="12700">
            <a:solidFill>
              <a:srgbClr val="DDE4EE"/>
            </a:solidFill>
            <a:prstDash val="solid"/>
          </a:ln>
        </p:spPr>
      </p:sp>
      <p:sp>
        <p:nvSpPr>
          <p:cNvPr id="6" name="Text 3"/>
          <p:cNvSpPr/>
          <p:nvPr/>
        </p:nvSpPr>
        <p:spPr>
          <a:xfrm>
            <a:off x="8046720" y="2194560"/>
            <a:ext cx="3291840" cy="320040"/>
          </a:xfrm>
          <a:prstGeom prst="rect">
            <a:avLst/>
          </a:prstGeom>
          <a:noFill/>
          <a:ln/>
        </p:spPr>
        <p:txBody>
          <a:bodyPr wrap="square" lIns="0" tIns="0" rIns="0" bIns="0" rtlCol="0" anchor="ctr"/>
          <a:lstStyle/>
          <a:p>
            <a:pPr indent="0" marL="0">
              <a:buNone/>
            </a:pPr>
            <a:r>
              <a:rPr lang="en-US" sz="1300" b="1" dirty="0">
                <a:solidFill>
                  <a:srgbClr val="16181D"/>
                </a:solidFill>
                <a:latin typeface="Calibri" pitchFamily="34" charset="0"/>
                <a:ea typeface="Calibri" pitchFamily="34" charset="-122"/>
                <a:cs typeface="Calibri" pitchFamily="34" charset="-120"/>
              </a:rPr>
              <a:t>Severidad de los 35 problemas</a:t>
            </a:r>
            <a:endParaRPr lang="en-US" sz="1300" dirty="0"/>
          </a:p>
        </p:txBody>
      </p:sp>
      <p:sp>
        <p:nvSpPr>
          <p:cNvPr id="7" name="Shape 4"/>
          <p:cNvSpPr/>
          <p:nvPr/>
        </p:nvSpPr>
        <p:spPr>
          <a:xfrm>
            <a:off x="8046720" y="2743200"/>
            <a:ext cx="777240" cy="777240"/>
          </a:xfrm>
          <a:prstGeom prst="roundRect">
            <a:avLst>
              <a:gd name="adj" fmla="val 7059"/>
            </a:avLst>
          </a:prstGeom>
          <a:solidFill>
            <a:srgbClr val="C0392B"/>
          </a:solidFill>
          <a:ln w="12700">
            <a:solidFill>
              <a:srgbClr val="C0392B"/>
            </a:solidFill>
            <a:prstDash val="solid"/>
          </a:ln>
        </p:spPr>
      </p:sp>
      <p:sp>
        <p:nvSpPr>
          <p:cNvPr id="8" name="Text 5"/>
          <p:cNvSpPr/>
          <p:nvPr/>
        </p:nvSpPr>
        <p:spPr>
          <a:xfrm>
            <a:off x="8046720" y="2743200"/>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9</a:t>
            </a:r>
            <a:endParaRPr lang="en-US" sz="2400" dirty="0"/>
          </a:p>
        </p:txBody>
      </p:sp>
      <p:sp>
        <p:nvSpPr>
          <p:cNvPr id="9" name="Text 6"/>
          <p:cNvSpPr/>
          <p:nvPr/>
        </p:nvSpPr>
        <p:spPr>
          <a:xfrm>
            <a:off x="8979408" y="2788920"/>
            <a:ext cx="2377440" cy="292608"/>
          </a:xfrm>
          <a:prstGeom prst="rect">
            <a:avLst/>
          </a:prstGeom>
          <a:noFill/>
          <a:ln/>
        </p:spPr>
        <p:txBody>
          <a:bodyPr wrap="square" lIns="0" tIns="0" rIns="0" bIns="0" rtlCol="0" anchor="ctr"/>
          <a:lstStyle/>
          <a:p>
            <a:pPr indent="0" marL="0">
              <a:buNone/>
            </a:pPr>
            <a:r>
              <a:rPr lang="en-US" sz="1500" b="1" dirty="0">
                <a:solidFill>
                  <a:srgbClr val="16181D"/>
                </a:solidFill>
                <a:latin typeface="Calibri" pitchFamily="34" charset="0"/>
                <a:ea typeface="Calibri" pitchFamily="34" charset="-122"/>
                <a:cs typeface="Calibri" pitchFamily="34" charset="-120"/>
              </a:rPr>
              <a:t>Alta</a:t>
            </a:r>
            <a:endParaRPr lang="en-US" sz="1500" dirty="0"/>
          </a:p>
        </p:txBody>
      </p:sp>
      <p:sp>
        <p:nvSpPr>
          <p:cNvPr id="10" name="Text 7"/>
          <p:cNvSpPr/>
          <p:nvPr/>
        </p:nvSpPr>
        <p:spPr>
          <a:xfrm>
            <a:off x="8979408" y="3090672"/>
            <a:ext cx="2514600" cy="457200"/>
          </a:xfrm>
          <a:prstGeom prst="rect">
            <a:avLst/>
          </a:prstGeom>
          <a:noFill/>
          <a:ln/>
        </p:spPr>
        <p:txBody>
          <a:bodyPr wrap="square" lIns="0" tIns="0" rIns="0" bIns="0" rtlCol="0" anchor="t"/>
          <a:lstStyle/>
          <a:p>
            <a:pPr indent="0" marL="0">
              <a:buNone/>
            </a:pPr>
            <a:r>
              <a:rPr lang="en-US" sz="1050" dirty="0">
                <a:solidFill>
                  <a:srgbClr val="6B7684"/>
                </a:solidFill>
                <a:latin typeface="Calibri" pitchFamily="34" charset="0"/>
                <a:ea typeface="Calibri" pitchFamily="34" charset="-122"/>
                <a:cs typeface="Calibri" pitchFamily="34" charset="-120"/>
              </a:rPr>
              <a:t>Comprometen decisiones de negocio</a:t>
            </a:r>
            <a:endParaRPr lang="en-US" sz="1050" dirty="0"/>
          </a:p>
        </p:txBody>
      </p:sp>
      <p:sp>
        <p:nvSpPr>
          <p:cNvPr id="11" name="Shape 8"/>
          <p:cNvSpPr/>
          <p:nvPr/>
        </p:nvSpPr>
        <p:spPr>
          <a:xfrm>
            <a:off x="8046720" y="3794760"/>
            <a:ext cx="777240" cy="777240"/>
          </a:xfrm>
          <a:prstGeom prst="roundRect">
            <a:avLst>
              <a:gd name="adj" fmla="val 7059"/>
            </a:avLst>
          </a:prstGeom>
          <a:solidFill>
            <a:srgbClr val="D68910"/>
          </a:solidFill>
          <a:ln w="12700">
            <a:solidFill>
              <a:srgbClr val="D68910"/>
            </a:solidFill>
            <a:prstDash val="solid"/>
          </a:ln>
        </p:spPr>
      </p:sp>
      <p:sp>
        <p:nvSpPr>
          <p:cNvPr id="12" name="Text 9"/>
          <p:cNvSpPr/>
          <p:nvPr/>
        </p:nvSpPr>
        <p:spPr>
          <a:xfrm>
            <a:off x="8046720" y="3794760"/>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24</a:t>
            </a:r>
            <a:endParaRPr lang="en-US" sz="2400" dirty="0"/>
          </a:p>
        </p:txBody>
      </p:sp>
      <p:sp>
        <p:nvSpPr>
          <p:cNvPr id="13" name="Text 10"/>
          <p:cNvSpPr/>
          <p:nvPr/>
        </p:nvSpPr>
        <p:spPr>
          <a:xfrm>
            <a:off x="8979408" y="3840480"/>
            <a:ext cx="2377440" cy="292608"/>
          </a:xfrm>
          <a:prstGeom prst="rect">
            <a:avLst/>
          </a:prstGeom>
          <a:noFill/>
          <a:ln/>
        </p:spPr>
        <p:txBody>
          <a:bodyPr wrap="square" lIns="0" tIns="0" rIns="0" bIns="0" rtlCol="0" anchor="ctr"/>
          <a:lstStyle/>
          <a:p>
            <a:pPr indent="0" marL="0">
              <a:buNone/>
            </a:pPr>
            <a:r>
              <a:rPr lang="en-US" sz="1500" b="1" dirty="0">
                <a:solidFill>
                  <a:srgbClr val="16181D"/>
                </a:solidFill>
                <a:latin typeface="Calibri" pitchFamily="34" charset="0"/>
                <a:ea typeface="Calibri" pitchFamily="34" charset="-122"/>
                <a:cs typeface="Calibri" pitchFamily="34" charset="-120"/>
              </a:rPr>
              <a:t>Media</a:t>
            </a:r>
            <a:endParaRPr lang="en-US" sz="1500" dirty="0"/>
          </a:p>
        </p:txBody>
      </p:sp>
      <p:sp>
        <p:nvSpPr>
          <p:cNvPr id="14" name="Text 11"/>
          <p:cNvSpPr/>
          <p:nvPr/>
        </p:nvSpPr>
        <p:spPr>
          <a:xfrm>
            <a:off x="8979408" y="4142232"/>
            <a:ext cx="2514600" cy="457200"/>
          </a:xfrm>
          <a:prstGeom prst="rect">
            <a:avLst/>
          </a:prstGeom>
          <a:noFill/>
          <a:ln/>
        </p:spPr>
        <p:txBody>
          <a:bodyPr wrap="square" lIns="0" tIns="0" rIns="0" bIns="0" rtlCol="0" anchor="t"/>
          <a:lstStyle/>
          <a:p>
            <a:pPr indent="0" marL="0">
              <a:buNone/>
            </a:pPr>
            <a:r>
              <a:rPr lang="en-US" sz="1050" dirty="0">
                <a:solidFill>
                  <a:srgbClr val="6B7684"/>
                </a:solidFill>
                <a:latin typeface="Calibri" pitchFamily="34" charset="0"/>
                <a:ea typeface="Calibri" pitchFamily="34" charset="-122"/>
                <a:cs typeface="Calibri" pitchFamily="34" charset="-120"/>
              </a:rPr>
              <a:t>Distorsionan cálculos y agregados</a:t>
            </a:r>
            <a:endParaRPr lang="en-US" sz="1050" dirty="0"/>
          </a:p>
        </p:txBody>
      </p:sp>
      <p:sp>
        <p:nvSpPr>
          <p:cNvPr id="15" name="Shape 12"/>
          <p:cNvSpPr/>
          <p:nvPr/>
        </p:nvSpPr>
        <p:spPr>
          <a:xfrm>
            <a:off x="8046720" y="4846320"/>
            <a:ext cx="777240" cy="777240"/>
          </a:xfrm>
          <a:prstGeom prst="roundRect">
            <a:avLst>
              <a:gd name="adj" fmla="val 7059"/>
            </a:avLst>
          </a:prstGeom>
          <a:solidFill>
            <a:srgbClr val="1E8449"/>
          </a:solidFill>
          <a:ln w="12700">
            <a:solidFill>
              <a:srgbClr val="1E8449"/>
            </a:solidFill>
            <a:prstDash val="solid"/>
          </a:ln>
        </p:spPr>
      </p:sp>
      <p:sp>
        <p:nvSpPr>
          <p:cNvPr id="16" name="Text 13"/>
          <p:cNvSpPr/>
          <p:nvPr/>
        </p:nvSpPr>
        <p:spPr>
          <a:xfrm>
            <a:off x="8046720" y="4846320"/>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7" name="Text 14"/>
          <p:cNvSpPr/>
          <p:nvPr/>
        </p:nvSpPr>
        <p:spPr>
          <a:xfrm>
            <a:off x="8979408" y="4892040"/>
            <a:ext cx="2377440" cy="292608"/>
          </a:xfrm>
          <a:prstGeom prst="rect">
            <a:avLst/>
          </a:prstGeom>
          <a:noFill/>
          <a:ln/>
        </p:spPr>
        <p:txBody>
          <a:bodyPr wrap="square" lIns="0" tIns="0" rIns="0" bIns="0" rtlCol="0" anchor="ctr"/>
          <a:lstStyle/>
          <a:p>
            <a:pPr indent="0" marL="0">
              <a:buNone/>
            </a:pPr>
            <a:r>
              <a:rPr lang="en-US" sz="1500" b="1" dirty="0">
                <a:solidFill>
                  <a:srgbClr val="16181D"/>
                </a:solidFill>
                <a:latin typeface="Calibri" pitchFamily="34" charset="0"/>
                <a:ea typeface="Calibri" pitchFamily="34" charset="-122"/>
                <a:cs typeface="Calibri" pitchFamily="34" charset="-120"/>
              </a:rPr>
              <a:t>Baja</a:t>
            </a:r>
            <a:endParaRPr lang="en-US" sz="1500" dirty="0"/>
          </a:p>
        </p:txBody>
      </p:sp>
      <p:sp>
        <p:nvSpPr>
          <p:cNvPr id="18" name="Text 15"/>
          <p:cNvSpPr/>
          <p:nvPr/>
        </p:nvSpPr>
        <p:spPr>
          <a:xfrm>
            <a:off x="8979408" y="5193792"/>
            <a:ext cx="2514600" cy="457200"/>
          </a:xfrm>
          <a:prstGeom prst="rect">
            <a:avLst/>
          </a:prstGeom>
          <a:noFill/>
          <a:ln/>
        </p:spPr>
        <p:txBody>
          <a:bodyPr wrap="square" lIns="0" tIns="0" rIns="0" bIns="0" rtlCol="0" anchor="t"/>
          <a:lstStyle/>
          <a:p>
            <a:pPr indent="0" marL="0">
              <a:buNone/>
            </a:pPr>
            <a:r>
              <a:rPr lang="en-US" sz="1050" dirty="0">
                <a:solidFill>
                  <a:srgbClr val="6B7684"/>
                </a:solidFill>
                <a:latin typeface="Calibri" pitchFamily="34" charset="0"/>
                <a:ea typeface="Calibri" pitchFamily="34" charset="-122"/>
                <a:cs typeface="Calibri" pitchFamily="34" charset="-120"/>
              </a:rPr>
              <a:t>Reducen alcance sin afectar cifras</a:t>
            </a:r>
            <a:endParaRPr lang="en-US" sz="1050" dirty="0"/>
          </a:p>
        </p:txBody>
      </p:sp>
      <p:sp>
        <p:nvSpPr>
          <p:cNvPr id="19" name="Text 16"/>
          <p:cNvSpPr/>
          <p:nvPr/>
        </p:nvSpPr>
        <p:spPr>
          <a:xfrm>
            <a:off x="566928" y="6181344"/>
            <a:ext cx="9509760" cy="292608"/>
          </a:xfrm>
          <a:prstGeom prst="rect">
            <a:avLst/>
          </a:prstGeom>
          <a:noFill/>
          <a:ln/>
        </p:spPr>
        <p:txBody>
          <a:bodyPr wrap="square" lIns="0" tIns="0" rIns="0" bIns="0" rtlCol="0" anchor="ctr"/>
          <a:lstStyle/>
          <a:p>
            <a:pPr indent="0" marL="0">
              <a:buNone/>
            </a:pPr>
            <a:r>
              <a:rPr lang="en-US" sz="1000" dirty="0">
                <a:solidFill>
                  <a:srgbClr val="6B7684"/>
                </a:solidFill>
                <a:latin typeface="Calibri" pitchFamily="34" charset="0"/>
                <a:ea typeface="Calibri" pitchFamily="34" charset="-122"/>
                <a:cs typeface="Calibri" pitchFamily="34" charset="-120"/>
              </a:rPr>
              <a:t>Las cifras suman registros de varios problemas a la vez, por eso superan las 640.000 filas: la suma de los 35 hallazgos equivale a 6 veces el archivo. Contando filas distintas, ninguna de las 640.000 queda limpia</a:t>
            </a:r>
            <a:endParaRPr lang="en-US" sz="1000" dirty="0"/>
          </a:p>
        </p:txBody>
      </p:sp>
      <p:sp>
        <p:nvSpPr>
          <p:cNvPr id="20" name="Text 17"/>
          <p:cNvSpPr/>
          <p:nvPr/>
        </p:nvSpPr>
        <p:spPr>
          <a:xfrm>
            <a:off x="10820095" y="6181344"/>
            <a:ext cx="822960" cy="292608"/>
          </a:xfrm>
          <a:prstGeom prst="rect">
            <a:avLst/>
          </a:prstGeom>
          <a:noFill/>
          <a:ln/>
        </p:spPr>
        <p:txBody>
          <a:bodyPr wrap="square" lIns="0" tIns="0" rIns="0" bIns="0" rtlCol="0" anchor="ctr"/>
          <a:lstStyle/>
          <a:p>
            <a:pPr algn="r" indent="0" marL="0">
              <a:buNone/>
            </a:pPr>
            <a:r>
              <a:rPr lang="en-US" sz="1000" dirty="0">
                <a:solidFill>
                  <a:srgbClr val="6B7684"/>
                </a:solidFill>
                <a:latin typeface="Calibri" pitchFamily="34" charset="0"/>
                <a:ea typeface="Calibri" pitchFamily="34" charset="-122"/>
                <a:cs typeface="Calibri" pitchFamily="34" charset="-120"/>
              </a:rPr>
              <a:t>06 / 19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493776"/>
            <a:ext cx="8229600" cy="256032"/>
          </a:xfrm>
          <a:prstGeom prst="rect">
            <a:avLst/>
          </a:prstGeom>
          <a:noFill/>
          <a:ln/>
        </p:spPr>
        <p:txBody>
          <a:bodyPr wrap="square" lIns="0" tIns="0" rIns="0" bIns="0" rtlCol="0" anchor="ctr"/>
          <a:lstStyle/>
          <a:p>
            <a:pPr indent="0" marL="0">
              <a:buNone/>
            </a:pPr>
            <a:r>
              <a:rPr lang="en-US" sz="1100" b="1" spc="220" kern="0" dirty="0">
                <a:solidFill>
                  <a:srgbClr val="1E2761"/>
                </a:solidFill>
                <a:latin typeface="Calibri" pitchFamily="34" charset="0"/>
                <a:ea typeface="Calibri" pitchFamily="34" charset="-122"/>
                <a:cs typeface="Calibri" pitchFamily="34" charset="-120"/>
              </a:rPr>
              <a:t>ALCANCE</a:t>
            </a:r>
            <a:endParaRPr lang="en-US" sz="1100" dirty="0"/>
          </a:p>
        </p:txBody>
      </p:sp>
      <p:sp>
        <p:nvSpPr>
          <p:cNvPr id="3" name="Text 1"/>
          <p:cNvSpPr/>
          <p:nvPr/>
        </p:nvSpPr>
        <p:spPr>
          <a:xfrm>
            <a:off x="566928" y="786384"/>
            <a:ext cx="10424160" cy="749808"/>
          </a:xfrm>
          <a:prstGeom prst="rect">
            <a:avLst/>
          </a:prstGeom>
          <a:noFill/>
          <a:ln/>
        </p:spPr>
        <p:txBody>
          <a:bodyPr wrap="square" lIns="0" tIns="0" rIns="0" bIns="0" rtlCol="0" anchor="ctr"/>
          <a:lstStyle/>
          <a:p>
            <a:pPr indent="0" marL="0">
              <a:buNone/>
            </a:pPr>
            <a:r>
              <a:rPr lang="en-US" sz="3400" b="1" dirty="0">
                <a:solidFill>
                  <a:srgbClr val="16181D"/>
                </a:solidFill>
                <a:latin typeface="Cambria" pitchFamily="34" charset="0"/>
                <a:ea typeface="Cambria" pitchFamily="34" charset="-122"/>
                <a:cs typeface="Cambria" pitchFamily="34" charset="-120"/>
              </a:rPr>
              <a:t>Los diez problemas que más filas comprometen</a:t>
            </a:r>
            <a:endParaRPr lang="en-US" sz="3400" dirty="0"/>
          </a:p>
        </p:txBody>
      </p:sp>
      <p:graphicFrame>
        <p:nvGraphicFramePr>
          <p:cNvPr id="4" name="Chart 0" descr=""/>
          <p:cNvGraphicFramePr/>
          <p:nvPr/>
        </p:nvGraphicFramePr>
        <p:xfrm>
          <a:off x="566928" y="1965960"/>
          <a:ext cx="11064240" cy="40233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66928" y="6181344"/>
            <a:ext cx="9509760" cy="292608"/>
          </a:xfrm>
          <a:prstGeom prst="rect">
            <a:avLst/>
          </a:prstGeom>
          <a:noFill/>
          <a:ln/>
        </p:spPr>
        <p:txBody>
          <a:bodyPr wrap="square" lIns="0" tIns="0" rIns="0" bIns="0" rtlCol="0" anchor="ctr"/>
          <a:lstStyle/>
          <a:p>
            <a:pPr indent="0" marL="0">
              <a:buNone/>
            </a:pPr>
            <a:r>
              <a:rPr lang="en-US" sz="1000" dirty="0">
                <a:solidFill>
                  <a:srgbClr val="6B7684"/>
                </a:solidFill>
                <a:latin typeface="Calibri" pitchFamily="34" charset="0"/>
                <a:ea typeface="Calibri" pitchFamily="34" charset="-122"/>
                <a:cs typeface="Calibri" pitchFamily="34" charset="-120"/>
              </a:rPr>
              <a:t>Tres de los diez comprometen más del 60% del archivo y seis superan el 40%; el menor de todos alcanza el 16%</a:t>
            </a:r>
            <a:endParaRPr lang="en-US" sz="1000" dirty="0"/>
          </a:p>
        </p:txBody>
      </p:sp>
      <p:sp>
        <p:nvSpPr>
          <p:cNvPr id="6" name="Text 3"/>
          <p:cNvSpPr/>
          <p:nvPr/>
        </p:nvSpPr>
        <p:spPr>
          <a:xfrm>
            <a:off x="10820095" y="6181344"/>
            <a:ext cx="822960" cy="292608"/>
          </a:xfrm>
          <a:prstGeom prst="rect">
            <a:avLst/>
          </a:prstGeom>
          <a:noFill/>
          <a:ln/>
        </p:spPr>
        <p:txBody>
          <a:bodyPr wrap="square" lIns="0" tIns="0" rIns="0" bIns="0" rtlCol="0" anchor="ctr"/>
          <a:lstStyle/>
          <a:p>
            <a:pPr algn="r" indent="0" marL="0">
              <a:buNone/>
            </a:pPr>
            <a:r>
              <a:rPr lang="en-US" sz="1000" dirty="0">
                <a:solidFill>
                  <a:srgbClr val="6B7684"/>
                </a:solidFill>
                <a:latin typeface="Calibri" pitchFamily="34" charset="0"/>
                <a:ea typeface="Calibri" pitchFamily="34" charset="-122"/>
                <a:cs typeface="Calibri" pitchFamily="34" charset="-120"/>
              </a:rPr>
              <a:t>07 / 19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493776"/>
            <a:ext cx="8229600" cy="256032"/>
          </a:xfrm>
          <a:prstGeom prst="rect">
            <a:avLst/>
          </a:prstGeom>
          <a:noFill/>
          <a:ln/>
        </p:spPr>
        <p:txBody>
          <a:bodyPr wrap="square" lIns="0" tIns="0" rIns="0" bIns="0" rtlCol="0" anchor="ctr"/>
          <a:lstStyle/>
          <a:p>
            <a:pPr indent="0" marL="0">
              <a:buNone/>
            </a:pPr>
            <a:r>
              <a:rPr lang="en-US" sz="1100" b="1" spc="220" kern="0" dirty="0">
                <a:solidFill>
                  <a:srgbClr val="1E2761"/>
                </a:solidFill>
                <a:latin typeface="Calibri" pitchFamily="34" charset="0"/>
                <a:ea typeface="Calibri" pitchFamily="34" charset="-122"/>
                <a:cs typeface="Calibri" pitchFamily="34" charset="-120"/>
              </a:rPr>
              <a:t>HALLAZGO 1 · CONSISTENCIA</a:t>
            </a:r>
            <a:endParaRPr lang="en-US" sz="1100" dirty="0"/>
          </a:p>
        </p:txBody>
      </p:sp>
      <p:sp>
        <p:nvSpPr>
          <p:cNvPr id="3" name="Text 1"/>
          <p:cNvSpPr/>
          <p:nvPr/>
        </p:nvSpPr>
        <p:spPr>
          <a:xfrm>
            <a:off x="566928" y="786384"/>
            <a:ext cx="10424160" cy="749808"/>
          </a:xfrm>
          <a:prstGeom prst="rect">
            <a:avLst/>
          </a:prstGeom>
          <a:noFill/>
          <a:ln/>
        </p:spPr>
        <p:txBody>
          <a:bodyPr wrap="square" lIns="0" tIns="0" rIns="0" bIns="0" rtlCol="0" anchor="ctr"/>
          <a:lstStyle/>
          <a:p>
            <a:pPr indent="0" marL="0">
              <a:buNone/>
            </a:pPr>
            <a:r>
              <a:rPr lang="en-US" sz="3400" b="1" dirty="0">
                <a:solidFill>
                  <a:srgbClr val="16181D"/>
                </a:solidFill>
                <a:latin typeface="Cambria" pitchFamily="34" charset="0"/>
                <a:ea typeface="Cambria" pitchFamily="34" charset="-122"/>
                <a:cs typeface="Cambria" pitchFamily="34" charset="-120"/>
              </a:rPr>
              <a:t>Una misma ciudad escrita de 88 formas distintas</a:t>
            </a:r>
            <a:endParaRPr lang="en-US" sz="3400" dirty="0"/>
          </a:p>
        </p:txBody>
      </p:sp>
      <p:sp>
        <p:nvSpPr>
          <p:cNvPr id="4" name="Text 2"/>
          <p:cNvSpPr/>
          <p:nvPr/>
        </p:nvSpPr>
        <p:spPr>
          <a:xfrm>
            <a:off x="566928" y="2057400"/>
            <a:ext cx="3108960" cy="685800"/>
          </a:xfrm>
          <a:prstGeom prst="rect">
            <a:avLst/>
          </a:prstGeom>
          <a:noFill/>
          <a:ln/>
        </p:spPr>
        <p:txBody>
          <a:bodyPr wrap="square" lIns="0" tIns="0" rIns="0" bIns="0" rtlCol="0" anchor="b"/>
          <a:lstStyle/>
          <a:p>
            <a:pPr indent="0" marL="0">
              <a:buNone/>
            </a:pPr>
            <a:r>
              <a:rPr lang="en-US" sz="4000" b="1" dirty="0">
                <a:solidFill>
                  <a:srgbClr val="1E2761"/>
                </a:solidFill>
                <a:latin typeface="Calibri" pitchFamily="34" charset="0"/>
                <a:ea typeface="Calibri" pitchFamily="34" charset="-122"/>
                <a:cs typeface="Calibri" pitchFamily="34" charset="-120"/>
              </a:rPr>
              <a:t>314.864</a:t>
            </a:r>
            <a:endParaRPr lang="en-US" sz="4000" dirty="0"/>
          </a:p>
        </p:txBody>
      </p:sp>
      <p:sp>
        <p:nvSpPr>
          <p:cNvPr id="5" name="Text 3"/>
          <p:cNvSpPr/>
          <p:nvPr/>
        </p:nvSpPr>
        <p:spPr>
          <a:xfrm>
            <a:off x="566928" y="2770632"/>
            <a:ext cx="3108960" cy="502920"/>
          </a:xfrm>
          <a:prstGeom prst="rect">
            <a:avLst/>
          </a:prstGeom>
          <a:noFill/>
          <a:ln/>
        </p:spPr>
        <p:txBody>
          <a:bodyPr wrap="square" lIns="0" tIns="0" rIns="0" bIns="0" rtlCol="0" anchor="t"/>
          <a:lstStyle/>
          <a:p>
            <a:pPr indent="0" marL="0">
              <a:buNone/>
            </a:pPr>
            <a:r>
              <a:rPr lang="en-US" sz="1100" dirty="0">
                <a:solidFill>
                  <a:srgbClr val="6B7684"/>
                </a:solidFill>
                <a:latin typeface="Calibri" pitchFamily="34" charset="0"/>
                <a:ea typeface="Calibri" pitchFamily="34" charset="-122"/>
                <a:cs typeface="Calibri" pitchFamily="34" charset="-120"/>
              </a:rPr>
              <a:t>registros afectados, el 49,20% del archivo</a:t>
            </a:r>
            <a:endParaRPr lang="en-US" sz="1100" dirty="0"/>
          </a:p>
        </p:txBody>
      </p:sp>
      <p:sp>
        <p:nvSpPr>
          <p:cNvPr id="6" name="Text 4"/>
          <p:cNvSpPr/>
          <p:nvPr/>
        </p:nvSpPr>
        <p:spPr>
          <a:xfrm>
            <a:off x="566928" y="3383280"/>
            <a:ext cx="3200400" cy="1097280"/>
          </a:xfrm>
          <a:prstGeom prst="rect">
            <a:avLst/>
          </a:prstGeom>
          <a:noFill/>
          <a:ln/>
        </p:spPr>
        <p:txBody>
          <a:bodyPr wrap="square" lIns="0" tIns="0" rIns="0" bIns="0" rtlCol="0" anchor="t"/>
          <a:lstStyle/>
          <a:p>
            <a:pPr indent="0" marL="0">
              <a:buNone/>
            </a:pPr>
            <a:r>
              <a:rPr lang="en-US" sz="1300" dirty="0">
                <a:solidFill>
                  <a:srgbClr val="16181D"/>
                </a:solidFill>
                <a:latin typeface="Calibri" pitchFamily="34" charset="0"/>
                <a:ea typeface="Calibri" pitchFamily="34" charset="-122"/>
                <a:cs typeface="Calibri" pitchFamily="34" charset="-120"/>
              </a:rPr>
              <a:t>Mayúsculas, tildes, espacios sobrantes, contracciones como B/quilla y Sta. Marta, nombres largos como Santiago de Cali y códigos de tres letras.</a:t>
            </a:r>
            <a:endParaRPr lang="en-US" sz="1300" dirty="0"/>
          </a:p>
        </p:txBody>
      </p:sp>
      <p:sp>
        <p:nvSpPr>
          <p:cNvPr id="7" name="Shape 5"/>
          <p:cNvSpPr/>
          <p:nvPr/>
        </p:nvSpPr>
        <p:spPr>
          <a:xfrm>
            <a:off x="566928" y="4617720"/>
            <a:ext cx="3200400" cy="1234440"/>
          </a:xfrm>
          <a:prstGeom prst="roundRect">
            <a:avLst>
              <a:gd name="adj" fmla="val 4444"/>
            </a:avLst>
          </a:prstGeom>
          <a:solidFill>
            <a:srgbClr val="E8F0FC"/>
          </a:solidFill>
          <a:ln w="12700">
            <a:solidFill>
              <a:srgbClr val="DDE4EE"/>
            </a:solidFill>
            <a:prstDash val="solid"/>
          </a:ln>
        </p:spPr>
      </p:sp>
      <p:sp>
        <p:nvSpPr>
          <p:cNvPr id="8" name="Text 6"/>
          <p:cNvSpPr/>
          <p:nvPr/>
        </p:nvSpPr>
        <p:spPr>
          <a:xfrm>
            <a:off x="777240" y="4754880"/>
            <a:ext cx="2788920" cy="100584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Impacto en el negocio
</a:t>
            </a:r>
            <a:pPr indent="0" marL="0">
              <a:buNone/>
            </a:pPr>
            <a:r>
              <a:rPr lang="en-US" sz="1100" dirty="0">
                <a:solidFill>
                  <a:srgbClr val="16181D"/>
                </a:solidFill>
                <a:latin typeface="Calibri" pitchFamily="34" charset="0"/>
                <a:ea typeface="Calibri" pitchFamily="34" charset="-122"/>
                <a:cs typeface="Calibri" pitchFamily="34" charset="-120"/>
              </a:rPr>
              <a:t>Una misma sede se reparte en siete filas del informe de venta por ciudad en promedio, y hasta en once en el caso de Bogotá, de modo que Operaciones no puede comparar tiendas ni asignar inventario.</a:t>
            </a:r>
            <a:endParaRPr lang="en-US" sz="1200" dirty="0"/>
          </a:p>
        </p:txBody>
      </p:sp>
      <p:graphicFrame>
        <p:nvGraphicFramePr>
          <p:cNvPr id="9" name="Chart 0" descr=""/>
          <p:cNvGraphicFramePr/>
          <p:nvPr/>
        </p:nvGraphicFramePr>
        <p:xfrm>
          <a:off x="4114800" y="1965960"/>
          <a:ext cx="7498080" cy="39319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nvSpPr>
        <p:spPr>
          <a:xfrm>
            <a:off x="566928" y="6181344"/>
            <a:ext cx="9509760" cy="292608"/>
          </a:xfrm>
          <a:prstGeom prst="rect">
            <a:avLst/>
          </a:prstGeom>
          <a:noFill/>
          <a:ln/>
        </p:spPr>
        <p:txBody>
          <a:bodyPr wrap="square" lIns="0" tIns="0" rIns="0" bIns="0" rtlCol="0" anchor="ctr"/>
          <a:lstStyle/>
          <a:p>
            <a:pPr indent="0" marL="0">
              <a:buNone/>
            </a:pPr>
            <a:r>
              <a:rPr lang="en-US" sz="1000" dirty="0">
                <a:solidFill>
                  <a:srgbClr val="6B7684"/>
                </a:solidFill>
                <a:latin typeface="Calibri" pitchFamily="34" charset="0"/>
                <a:ea typeface="Calibri" pitchFamily="34" charset="-122"/>
                <a:cs typeface="Calibri" pitchFamily="34" charset="-120"/>
              </a:rPr>
              <a:t>El mismo patrón afecta a las cinco variables categóricas del archivo</a:t>
            </a:r>
            <a:endParaRPr lang="en-US" sz="1000" dirty="0"/>
          </a:p>
        </p:txBody>
      </p:sp>
      <p:sp>
        <p:nvSpPr>
          <p:cNvPr id="11" name="Text 8"/>
          <p:cNvSpPr/>
          <p:nvPr/>
        </p:nvSpPr>
        <p:spPr>
          <a:xfrm>
            <a:off x="10820095" y="6181344"/>
            <a:ext cx="822960" cy="292608"/>
          </a:xfrm>
          <a:prstGeom prst="rect">
            <a:avLst/>
          </a:prstGeom>
          <a:noFill/>
          <a:ln/>
        </p:spPr>
        <p:txBody>
          <a:bodyPr wrap="square" lIns="0" tIns="0" rIns="0" bIns="0" rtlCol="0" anchor="ctr"/>
          <a:lstStyle/>
          <a:p>
            <a:pPr algn="r" indent="0" marL="0">
              <a:buNone/>
            </a:pPr>
            <a:r>
              <a:rPr lang="en-US" sz="1000" dirty="0">
                <a:solidFill>
                  <a:srgbClr val="6B7684"/>
                </a:solidFill>
                <a:latin typeface="Calibri" pitchFamily="34" charset="0"/>
                <a:ea typeface="Calibri" pitchFamily="34" charset="-122"/>
                <a:cs typeface="Calibri" pitchFamily="34" charset="-120"/>
              </a:rPr>
              <a:t>08 / 19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493776"/>
            <a:ext cx="8229600" cy="256032"/>
          </a:xfrm>
          <a:prstGeom prst="rect">
            <a:avLst/>
          </a:prstGeom>
          <a:noFill/>
          <a:ln/>
        </p:spPr>
        <p:txBody>
          <a:bodyPr wrap="square" lIns="0" tIns="0" rIns="0" bIns="0" rtlCol="0" anchor="ctr"/>
          <a:lstStyle/>
          <a:p>
            <a:pPr indent="0" marL="0">
              <a:buNone/>
            </a:pPr>
            <a:r>
              <a:rPr lang="en-US" sz="1100" b="1" spc="220" kern="0" dirty="0">
                <a:solidFill>
                  <a:srgbClr val="1E2761"/>
                </a:solidFill>
                <a:latin typeface="Calibri" pitchFamily="34" charset="0"/>
                <a:ea typeface="Calibri" pitchFamily="34" charset="-122"/>
                <a:cs typeface="Calibri" pitchFamily="34" charset="-120"/>
              </a:rPr>
              <a:t>HALLAZGO 2 · EXACTITUD</a:t>
            </a:r>
            <a:endParaRPr lang="en-US" sz="1100" dirty="0"/>
          </a:p>
        </p:txBody>
      </p:sp>
      <p:sp>
        <p:nvSpPr>
          <p:cNvPr id="3" name="Text 1"/>
          <p:cNvSpPr/>
          <p:nvPr/>
        </p:nvSpPr>
        <p:spPr>
          <a:xfrm>
            <a:off x="566928" y="786384"/>
            <a:ext cx="10424160" cy="749808"/>
          </a:xfrm>
          <a:prstGeom prst="rect">
            <a:avLst/>
          </a:prstGeom>
          <a:noFill/>
          <a:ln/>
        </p:spPr>
        <p:txBody>
          <a:bodyPr wrap="square" lIns="0" tIns="0" rIns="0" bIns="0" rtlCol="0" anchor="ctr"/>
          <a:lstStyle/>
          <a:p>
            <a:pPr indent="0" marL="0">
              <a:buNone/>
            </a:pPr>
            <a:r>
              <a:rPr lang="en-US" sz="3400" b="1" dirty="0">
                <a:solidFill>
                  <a:srgbClr val="16181D"/>
                </a:solidFill>
                <a:latin typeface="Cambria" pitchFamily="34" charset="0"/>
                <a:ea typeface="Cambria" pitchFamily="34" charset="-122"/>
                <a:cs typeface="Cambria" pitchFamily="34" charset="-120"/>
              </a:rPr>
              <a:t>La edad cambia 40 años dentro del mismo cliente</a:t>
            </a:r>
            <a:endParaRPr lang="en-US" sz="3400" dirty="0"/>
          </a:p>
        </p:txBody>
      </p:sp>
      <p:graphicFrame>
        <p:nvGraphicFramePr>
          <p:cNvPr id="4" name="Chart 0" descr=""/>
          <p:cNvGraphicFramePr/>
          <p:nvPr/>
        </p:nvGraphicFramePr>
        <p:xfrm>
          <a:off x="566928" y="2011680"/>
          <a:ext cx="694944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863840" y="2194560"/>
            <a:ext cx="3749040" cy="685800"/>
          </a:xfrm>
          <a:prstGeom prst="rect">
            <a:avLst/>
          </a:prstGeom>
          <a:noFill/>
          <a:ln/>
        </p:spPr>
        <p:txBody>
          <a:bodyPr wrap="square" lIns="0" tIns="0" rIns="0" bIns="0" rtlCol="0" anchor="b"/>
          <a:lstStyle/>
          <a:p>
            <a:pPr indent="0" marL="0">
              <a:buNone/>
            </a:pPr>
            <a:r>
              <a:rPr lang="en-US" sz="4000" b="1" dirty="0">
                <a:solidFill>
                  <a:srgbClr val="C0392B"/>
                </a:solidFill>
                <a:latin typeface="Calibri" pitchFamily="34" charset="0"/>
                <a:ea typeface="Calibri" pitchFamily="34" charset="-122"/>
                <a:cs typeface="Calibri" pitchFamily="34" charset="-120"/>
              </a:rPr>
              <a:t>97,9%</a:t>
            </a:r>
            <a:endParaRPr lang="en-US" sz="4000" dirty="0"/>
          </a:p>
        </p:txBody>
      </p:sp>
      <p:sp>
        <p:nvSpPr>
          <p:cNvPr id="6" name="Text 3"/>
          <p:cNvSpPr/>
          <p:nvPr/>
        </p:nvSpPr>
        <p:spPr>
          <a:xfrm>
            <a:off x="7863840" y="2907792"/>
            <a:ext cx="3749040" cy="502920"/>
          </a:xfrm>
          <a:prstGeom prst="rect">
            <a:avLst/>
          </a:prstGeom>
          <a:noFill/>
          <a:ln/>
        </p:spPr>
        <p:txBody>
          <a:bodyPr wrap="square" lIns="0" tIns="0" rIns="0" bIns="0" rtlCol="0" anchor="t"/>
          <a:lstStyle/>
          <a:p>
            <a:pPr indent="0" marL="0">
              <a:buNone/>
            </a:pPr>
            <a:r>
              <a:rPr lang="en-US" sz="1100" dirty="0">
                <a:solidFill>
                  <a:srgbClr val="6B7684"/>
                </a:solidFill>
                <a:latin typeface="Calibri" pitchFamily="34" charset="0"/>
                <a:ea typeface="Calibri" pitchFamily="34" charset="-122"/>
                <a:cs typeface="Calibri" pitchFamily="34" charset="-120"/>
              </a:rPr>
              <a:t>de los clientes con dos o más pedidos supera el tope físicamente posible</a:t>
            </a:r>
            <a:endParaRPr lang="en-US" sz="1100" dirty="0"/>
          </a:p>
        </p:txBody>
      </p:sp>
      <p:sp>
        <p:nvSpPr>
          <p:cNvPr id="7" name="Text 4"/>
          <p:cNvSpPr/>
          <p:nvPr/>
        </p:nvSpPr>
        <p:spPr>
          <a:xfrm>
            <a:off x="7863840" y="3611880"/>
            <a:ext cx="3749040" cy="1188720"/>
          </a:xfrm>
          <a:prstGeom prst="rect">
            <a:avLst/>
          </a:prstGeom>
          <a:noFill/>
          <a:ln/>
        </p:spPr>
        <p:txBody>
          <a:bodyPr wrap="square" lIns="0" tIns="0" rIns="0" bIns="0" rtlCol="0" anchor="t"/>
          <a:lstStyle/>
          <a:p>
            <a:pPr indent="0" marL="0">
              <a:buNone/>
            </a:pPr>
            <a:r>
              <a:rPr lang="en-US" sz="1300" dirty="0">
                <a:solidFill>
                  <a:srgbClr val="16181D"/>
                </a:solidFill>
                <a:latin typeface="Calibri" pitchFamily="34" charset="0"/>
                <a:ea typeface="Calibri" pitchFamily="34" charset="-122"/>
                <a:cs typeface="Calibri" pitchFamily="34" charset="-120"/>
              </a:rPr>
              <a:t>El archivo cubre 3 años de pedidos.
</a:t>
            </a:r>
            <a:pPr indent="0" marL="0">
              <a:buNone/>
            </a:pPr>
            <a:r>
              <a:rPr lang="en-US" sz="1300" dirty="0">
                <a:solidFill>
                  <a:srgbClr val="16181D"/>
                </a:solidFill>
                <a:latin typeface="Calibri" pitchFamily="34" charset="0"/>
                <a:ea typeface="Calibri" pitchFamily="34" charset="-122"/>
                <a:cs typeface="Calibri" pitchFamily="34" charset="-120"/>
              </a:rPr>
              <a:t>Nadie puede envejecer más de 3 años en ese lapso, y sin embargo el rango mediano de edad dentro de un mismo cliente es de 40.</a:t>
            </a:r>
            <a:endParaRPr lang="en-US" sz="1300" dirty="0"/>
          </a:p>
        </p:txBody>
      </p:sp>
      <p:sp>
        <p:nvSpPr>
          <p:cNvPr id="8" name="Shape 5"/>
          <p:cNvSpPr/>
          <p:nvPr/>
        </p:nvSpPr>
        <p:spPr>
          <a:xfrm>
            <a:off x="7863840" y="4846320"/>
            <a:ext cx="3749040" cy="1005840"/>
          </a:xfrm>
          <a:prstGeom prst="roundRect">
            <a:avLst>
              <a:gd name="adj" fmla="val 5455"/>
            </a:avLst>
          </a:prstGeom>
          <a:solidFill>
            <a:srgbClr val="FBEEEC"/>
          </a:solidFill>
          <a:ln w="12700">
            <a:solidFill>
              <a:srgbClr val="E9C6C1"/>
            </a:solidFill>
            <a:prstDash val="solid"/>
          </a:ln>
        </p:spPr>
      </p:sp>
      <p:sp>
        <p:nvSpPr>
          <p:cNvPr id="9" name="Text 6"/>
          <p:cNvSpPr/>
          <p:nvPr/>
        </p:nvSpPr>
        <p:spPr>
          <a:xfrm>
            <a:off x="8065008" y="4956048"/>
            <a:ext cx="3383280" cy="822960"/>
          </a:xfrm>
          <a:prstGeom prst="rect">
            <a:avLst/>
          </a:prstGeom>
          <a:noFill/>
          <a:ln/>
        </p:spPr>
        <p:txBody>
          <a:bodyPr wrap="square" lIns="0" tIns="0" rIns="0" bIns="0" rtlCol="0" anchor="t"/>
          <a:lstStyle/>
          <a:p>
            <a:pPr indent="0" marL="0">
              <a:buNone/>
            </a:pPr>
            <a:r>
              <a:rPr lang="en-US" sz="1200" b="1" dirty="0">
                <a:solidFill>
                  <a:srgbClr val="C0392B"/>
                </a:solidFill>
                <a:latin typeface="Calibri" pitchFamily="34" charset="0"/>
                <a:ea typeface="Calibri" pitchFamily="34" charset="-122"/>
                <a:cs typeface="Calibri" pitchFamily="34" charset="-120"/>
              </a:rPr>
              <a:t>622.458 registros · sin reparación posible
</a:t>
            </a:r>
            <a:pPr indent="0" marL="0">
              <a:buNone/>
            </a:pPr>
            <a:r>
              <a:rPr lang="en-US" sz="1100" dirty="0">
                <a:solidFill>
                  <a:srgbClr val="16181D"/>
                </a:solidFill>
                <a:latin typeface="Calibri" pitchFamily="34" charset="0"/>
                <a:ea typeface="Calibri" pitchFamily="34" charset="-122"/>
                <a:cs typeface="Calibri" pitchFamily="34" charset="-120"/>
              </a:rPr>
              <a:t>No hay forma de saber cuál de las edades es la verdadera: el dato correcto no está en el archivo.</a:t>
            </a:r>
            <a:endParaRPr lang="en-US" sz="1200" dirty="0"/>
          </a:p>
        </p:txBody>
      </p:sp>
      <p:sp>
        <p:nvSpPr>
          <p:cNvPr id="10" name="Text 7"/>
          <p:cNvSpPr/>
          <p:nvPr/>
        </p:nvSpPr>
        <p:spPr>
          <a:xfrm>
            <a:off x="566928" y="6181344"/>
            <a:ext cx="9509760" cy="292608"/>
          </a:xfrm>
          <a:prstGeom prst="rect">
            <a:avLst/>
          </a:prstGeom>
          <a:noFill/>
          <a:ln/>
        </p:spPr>
        <p:txBody>
          <a:bodyPr wrap="square" lIns="0" tIns="0" rIns="0" bIns="0" rtlCol="0" anchor="ctr"/>
          <a:lstStyle/>
          <a:p>
            <a:pPr indent="0" marL="0">
              <a:buNone/>
            </a:pPr>
            <a:r>
              <a:rPr lang="en-US" sz="1000" dirty="0">
                <a:solidFill>
                  <a:srgbClr val="6B7684"/>
                </a:solidFill>
                <a:latin typeface="Calibri" pitchFamily="34" charset="0"/>
                <a:ea typeface="Calibri" pitchFamily="34" charset="-122"/>
                <a:cs typeface="Calibri" pitchFamily="34" charset="-120"/>
              </a:rPr>
              <a:t>Barras en rojo: clientes cuyo rango de edad supera los 3 años que cubre el archivo · base de 141.107 clientes con dos o más pedidos</a:t>
            </a:r>
            <a:endParaRPr lang="en-US" sz="1000" dirty="0"/>
          </a:p>
        </p:txBody>
      </p:sp>
      <p:sp>
        <p:nvSpPr>
          <p:cNvPr id="11" name="Text 8"/>
          <p:cNvSpPr/>
          <p:nvPr/>
        </p:nvSpPr>
        <p:spPr>
          <a:xfrm>
            <a:off x="10820095" y="6181344"/>
            <a:ext cx="822960" cy="292608"/>
          </a:xfrm>
          <a:prstGeom prst="rect">
            <a:avLst/>
          </a:prstGeom>
          <a:noFill/>
          <a:ln/>
        </p:spPr>
        <p:txBody>
          <a:bodyPr wrap="square" lIns="0" tIns="0" rIns="0" bIns="0" rtlCol="0" anchor="ctr"/>
          <a:lstStyle/>
          <a:p>
            <a:pPr algn="r" indent="0" marL="0">
              <a:buNone/>
            </a:pPr>
            <a:r>
              <a:rPr lang="en-US" sz="1000" dirty="0">
                <a:solidFill>
                  <a:srgbClr val="6B7684"/>
                </a:solidFill>
                <a:latin typeface="Calibri" pitchFamily="34" charset="0"/>
                <a:ea typeface="Calibri" pitchFamily="34" charset="-122"/>
                <a:cs typeface="Calibri" pitchFamily="34" charset="-120"/>
              </a:rPr>
              <a:t>09 / 19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493776"/>
            <a:ext cx="8229600" cy="256032"/>
          </a:xfrm>
          <a:prstGeom prst="rect">
            <a:avLst/>
          </a:prstGeom>
          <a:noFill/>
          <a:ln/>
        </p:spPr>
        <p:txBody>
          <a:bodyPr wrap="square" lIns="0" tIns="0" rIns="0" bIns="0" rtlCol="0" anchor="ctr"/>
          <a:lstStyle/>
          <a:p>
            <a:pPr indent="0" marL="0">
              <a:buNone/>
            </a:pPr>
            <a:r>
              <a:rPr lang="en-US" sz="1100" b="1" spc="220" kern="0" dirty="0">
                <a:solidFill>
                  <a:srgbClr val="1E2761"/>
                </a:solidFill>
                <a:latin typeface="Calibri" pitchFamily="34" charset="0"/>
                <a:ea typeface="Calibri" pitchFamily="34" charset="-122"/>
                <a:cs typeface="Calibri" pitchFamily="34" charset="-120"/>
              </a:rPr>
              <a:t>HALLAZGO 3 · EXACTITUD</a:t>
            </a:r>
            <a:endParaRPr lang="en-US" sz="1100" dirty="0"/>
          </a:p>
        </p:txBody>
      </p:sp>
      <p:sp>
        <p:nvSpPr>
          <p:cNvPr id="3" name="Text 1"/>
          <p:cNvSpPr/>
          <p:nvPr/>
        </p:nvSpPr>
        <p:spPr>
          <a:xfrm>
            <a:off x="566928" y="786384"/>
            <a:ext cx="10424160" cy="749808"/>
          </a:xfrm>
          <a:prstGeom prst="rect">
            <a:avLst/>
          </a:prstGeom>
          <a:noFill/>
          <a:ln/>
        </p:spPr>
        <p:txBody>
          <a:bodyPr wrap="square" lIns="0" tIns="0" rIns="0" bIns="0" rtlCol="0" anchor="ctr"/>
          <a:lstStyle/>
          <a:p>
            <a:pPr indent="0" marL="0">
              <a:buNone/>
            </a:pPr>
            <a:r>
              <a:rPr lang="en-US" sz="3400" b="1" dirty="0">
                <a:solidFill>
                  <a:srgbClr val="16181D"/>
                </a:solidFill>
                <a:latin typeface="Cambria" pitchFamily="34" charset="0"/>
                <a:ea typeface="Cambria" pitchFamily="34" charset="-122"/>
                <a:cs typeface="Cambria" pitchFamily="34" charset="-120"/>
              </a:rPr>
              <a:t>El correo identifica el pedido, no a la persona</a:t>
            </a:r>
            <a:endParaRPr lang="en-US" sz="3400" dirty="0"/>
          </a:p>
        </p:txBody>
      </p:sp>
      <p:sp>
        <p:nvSpPr>
          <p:cNvPr id="4" name="Shape 2"/>
          <p:cNvSpPr/>
          <p:nvPr/>
        </p:nvSpPr>
        <p:spPr>
          <a:xfrm>
            <a:off x="566928" y="2103120"/>
            <a:ext cx="3291840" cy="1371600"/>
          </a:xfrm>
          <a:prstGeom prst="roundRect">
            <a:avLst>
              <a:gd name="adj" fmla="val 4000"/>
            </a:avLst>
          </a:prstGeom>
          <a:solidFill>
            <a:srgbClr val="E8F0FC"/>
          </a:solidFill>
          <a:ln w="12700">
            <a:solidFill>
              <a:srgbClr val="DDE4EE"/>
            </a:solidFill>
            <a:prstDash val="solid"/>
          </a:ln>
        </p:spPr>
      </p:sp>
      <p:sp>
        <p:nvSpPr>
          <p:cNvPr id="5" name="Text 3"/>
          <p:cNvSpPr/>
          <p:nvPr/>
        </p:nvSpPr>
        <p:spPr>
          <a:xfrm>
            <a:off x="822960" y="2286000"/>
            <a:ext cx="2834640" cy="292608"/>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id_pedido</a:t>
            </a:r>
            <a:endParaRPr lang="en-US" sz="1200" dirty="0"/>
          </a:p>
        </p:txBody>
      </p:sp>
      <p:sp>
        <p:nvSpPr>
          <p:cNvPr id="6" name="Text 4"/>
          <p:cNvSpPr/>
          <p:nvPr/>
        </p:nvSpPr>
        <p:spPr>
          <a:xfrm>
            <a:off x="822960" y="2633472"/>
            <a:ext cx="2880360" cy="548640"/>
          </a:xfrm>
          <a:prstGeom prst="rect">
            <a:avLst/>
          </a:prstGeom>
          <a:noFill/>
          <a:ln/>
        </p:spPr>
        <p:txBody>
          <a:bodyPr wrap="square" lIns="0" tIns="0" rIns="0" bIns="0" rtlCol="0" anchor="ctr"/>
          <a:lstStyle/>
          <a:p>
            <a:pPr indent="0" marL="0">
              <a:buNone/>
            </a:pPr>
            <a:r>
              <a:rPr lang="en-US" sz="1800" b="1" dirty="0">
                <a:solidFill>
                  <a:srgbClr val="16181D"/>
                </a:solidFill>
                <a:latin typeface="Courier New" pitchFamily="34" charset="0"/>
                <a:ea typeface="Courier New" pitchFamily="34" charset="-122"/>
                <a:cs typeface="Courier New" pitchFamily="34" charset="-120"/>
              </a:rPr>
              <a:t>P505195</a:t>
            </a:r>
            <a:endParaRPr lang="en-US" sz="1800" dirty="0"/>
          </a:p>
        </p:txBody>
      </p:sp>
      <p:sp>
        <p:nvSpPr>
          <p:cNvPr id="7" name="Shape 5"/>
          <p:cNvSpPr/>
          <p:nvPr/>
        </p:nvSpPr>
        <p:spPr>
          <a:xfrm>
            <a:off x="4270248" y="2103120"/>
            <a:ext cx="3291840" cy="1371600"/>
          </a:xfrm>
          <a:prstGeom prst="roundRect">
            <a:avLst>
              <a:gd name="adj" fmla="val 4000"/>
            </a:avLst>
          </a:prstGeom>
          <a:solidFill>
            <a:srgbClr val="E8F0FC"/>
          </a:solidFill>
          <a:ln w="12700">
            <a:solidFill>
              <a:srgbClr val="DDE4EE"/>
            </a:solidFill>
            <a:prstDash val="solid"/>
          </a:ln>
        </p:spPr>
      </p:sp>
      <p:sp>
        <p:nvSpPr>
          <p:cNvPr id="8" name="Text 6"/>
          <p:cNvSpPr/>
          <p:nvPr/>
        </p:nvSpPr>
        <p:spPr>
          <a:xfrm>
            <a:off x="4526280" y="2286000"/>
            <a:ext cx="2834640" cy="292608"/>
          </a:xfrm>
          <a:prstGeom prst="rect">
            <a:avLst/>
          </a:prstGeom>
          <a:noFill/>
          <a:ln/>
        </p:spPr>
        <p:txBody>
          <a:bodyPr wrap="square" lIns="0" tIns="0" rIns="0" bIns="0" rtlCol="0" anchor="ctr"/>
          <a:lstStyle/>
          <a:p>
            <a:pPr indent="0" marL="0">
              <a:buNone/>
            </a:pPr>
            <a:r>
              <a:rPr lang="en-US" sz="1200" b="1" dirty="0">
                <a:solidFill>
                  <a:srgbClr val="6B7684"/>
                </a:solidFill>
                <a:latin typeface="Calibri" pitchFamily="34" charset="0"/>
                <a:ea typeface="Calibri" pitchFamily="34" charset="-122"/>
                <a:cs typeface="Calibri" pitchFamily="34" charset="-120"/>
              </a:rPr>
              <a:t>menos 100.000</a:t>
            </a:r>
            <a:endParaRPr lang="en-US" sz="1200" dirty="0"/>
          </a:p>
        </p:txBody>
      </p:sp>
      <p:sp>
        <p:nvSpPr>
          <p:cNvPr id="9" name="Text 7"/>
          <p:cNvSpPr/>
          <p:nvPr/>
        </p:nvSpPr>
        <p:spPr>
          <a:xfrm>
            <a:off x="4526280" y="2633472"/>
            <a:ext cx="2880360" cy="548640"/>
          </a:xfrm>
          <a:prstGeom prst="rect">
            <a:avLst/>
          </a:prstGeom>
          <a:noFill/>
          <a:ln/>
        </p:spPr>
        <p:txBody>
          <a:bodyPr wrap="square" lIns="0" tIns="0" rIns="0" bIns="0" rtlCol="0" anchor="ctr"/>
          <a:lstStyle/>
          <a:p>
            <a:pPr indent="0" marL="0">
              <a:buNone/>
            </a:pPr>
            <a:r>
              <a:rPr lang="en-US" sz="1800" b="1" dirty="0">
                <a:solidFill>
                  <a:srgbClr val="16181D"/>
                </a:solidFill>
                <a:latin typeface="Courier New" pitchFamily="34" charset="0"/>
                <a:ea typeface="Courier New" pitchFamily="34" charset="-122"/>
                <a:cs typeface="Courier New" pitchFamily="34" charset="-120"/>
              </a:rPr>
              <a:t>= 405195</a:t>
            </a:r>
            <a:endParaRPr lang="en-US" sz="1800" dirty="0"/>
          </a:p>
        </p:txBody>
      </p:sp>
      <p:sp>
        <p:nvSpPr>
          <p:cNvPr id="10" name="Shape 8"/>
          <p:cNvSpPr/>
          <p:nvPr/>
        </p:nvSpPr>
        <p:spPr>
          <a:xfrm>
            <a:off x="7973568" y="2103120"/>
            <a:ext cx="3291840" cy="1371600"/>
          </a:xfrm>
          <a:prstGeom prst="roundRect">
            <a:avLst>
              <a:gd name="adj" fmla="val 4000"/>
            </a:avLst>
          </a:prstGeom>
          <a:solidFill>
            <a:srgbClr val="FBEEEC"/>
          </a:solidFill>
          <a:ln w="12700">
            <a:solidFill>
              <a:srgbClr val="E9C6C1"/>
            </a:solidFill>
            <a:prstDash val="solid"/>
          </a:ln>
        </p:spPr>
      </p:sp>
      <p:sp>
        <p:nvSpPr>
          <p:cNvPr id="11" name="Text 9"/>
          <p:cNvSpPr/>
          <p:nvPr/>
        </p:nvSpPr>
        <p:spPr>
          <a:xfrm>
            <a:off x="8229600" y="2286000"/>
            <a:ext cx="2834640" cy="292608"/>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correo_cliente</a:t>
            </a:r>
            <a:endParaRPr lang="en-US" sz="1200" dirty="0"/>
          </a:p>
        </p:txBody>
      </p:sp>
      <p:sp>
        <p:nvSpPr>
          <p:cNvPr id="12" name="Text 10"/>
          <p:cNvSpPr/>
          <p:nvPr/>
        </p:nvSpPr>
        <p:spPr>
          <a:xfrm>
            <a:off x="8229600" y="2633472"/>
            <a:ext cx="2880360" cy="548640"/>
          </a:xfrm>
          <a:prstGeom prst="rect">
            <a:avLst/>
          </a:prstGeom>
          <a:noFill/>
          <a:ln/>
        </p:spPr>
        <p:txBody>
          <a:bodyPr wrap="square" lIns="0" tIns="0" rIns="0" bIns="0" rtlCol="0" anchor="ctr"/>
          <a:lstStyle/>
          <a:p>
            <a:pPr indent="0" marL="0">
              <a:buNone/>
            </a:pPr>
            <a:r>
              <a:rPr lang="en-US" sz="1800" b="1" dirty="0">
                <a:solidFill>
                  <a:srgbClr val="16181D"/>
                </a:solidFill>
                <a:latin typeface="Courier New" pitchFamily="34" charset="0"/>
                <a:ea typeface="Courier New" pitchFamily="34" charset="-122"/>
                <a:cs typeface="Courier New" pitchFamily="34" charset="-120"/>
              </a:rPr>
              <a:t>cliente405195</a:t>
            </a:r>
            <a:endParaRPr lang="en-US" sz="1800" dirty="0"/>
          </a:p>
        </p:txBody>
      </p:sp>
      <p:sp>
        <p:nvSpPr>
          <p:cNvPr id="13" name="Text 11"/>
          <p:cNvSpPr/>
          <p:nvPr/>
        </p:nvSpPr>
        <p:spPr>
          <a:xfrm>
            <a:off x="3703320" y="2514600"/>
            <a:ext cx="502920" cy="548640"/>
          </a:xfrm>
          <a:prstGeom prst="rect">
            <a:avLst/>
          </a:prstGeom>
          <a:noFill/>
          <a:ln/>
        </p:spPr>
        <p:txBody>
          <a:bodyPr wrap="square" lIns="0" tIns="0" rIns="0" bIns="0" rtlCol="0" anchor="ctr"/>
          <a:lstStyle/>
          <a:p>
            <a:pPr algn="ctr" indent="0" marL="0">
              <a:buNone/>
            </a:pPr>
            <a:r>
              <a:rPr lang="en-US" sz="2600" dirty="0">
                <a:solidFill>
                  <a:srgbClr val="6B7684"/>
                </a:solidFill>
                <a:latin typeface="Calibri" pitchFamily="34" charset="0"/>
                <a:ea typeface="Calibri" pitchFamily="34" charset="-122"/>
                <a:cs typeface="Calibri" pitchFamily="34" charset="-120"/>
              </a:rPr>
              <a:t>→</a:t>
            </a:r>
            <a:endParaRPr lang="en-US" sz="2600" dirty="0"/>
          </a:p>
        </p:txBody>
      </p:sp>
      <p:sp>
        <p:nvSpPr>
          <p:cNvPr id="14" name="Text 12"/>
          <p:cNvSpPr/>
          <p:nvPr/>
        </p:nvSpPr>
        <p:spPr>
          <a:xfrm>
            <a:off x="7406640" y="2514600"/>
            <a:ext cx="502920" cy="548640"/>
          </a:xfrm>
          <a:prstGeom prst="rect">
            <a:avLst/>
          </a:prstGeom>
          <a:noFill/>
          <a:ln/>
        </p:spPr>
        <p:txBody>
          <a:bodyPr wrap="square" lIns="0" tIns="0" rIns="0" bIns="0" rtlCol="0" anchor="ctr"/>
          <a:lstStyle/>
          <a:p>
            <a:pPr algn="ctr" indent="0" marL="0">
              <a:buNone/>
            </a:pPr>
            <a:r>
              <a:rPr lang="en-US" sz="2600" dirty="0">
                <a:solidFill>
                  <a:srgbClr val="6B7684"/>
                </a:solidFill>
                <a:latin typeface="Calibri" pitchFamily="34" charset="0"/>
                <a:ea typeface="Calibri" pitchFamily="34" charset="-122"/>
                <a:cs typeface="Calibri" pitchFamily="34" charset="-120"/>
              </a:rPr>
              <a:t>→</a:t>
            </a:r>
            <a:endParaRPr lang="en-US" sz="2600" dirty="0"/>
          </a:p>
        </p:txBody>
      </p:sp>
      <p:sp>
        <p:nvSpPr>
          <p:cNvPr id="15" name="Text 13"/>
          <p:cNvSpPr/>
          <p:nvPr/>
        </p:nvSpPr>
        <p:spPr>
          <a:xfrm>
            <a:off x="566928" y="3977640"/>
            <a:ext cx="3291840" cy="685800"/>
          </a:xfrm>
          <a:prstGeom prst="rect">
            <a:avLst/>
          </a:prstGeom>
          <a:noFill/>
          <a:ln/>
        </p:spPr>
        <p:txBody>
          <a:bodyPr wrap="square" lIns="0" tIns="0" rIns="0" bIns="0" rtlCol="0" anchor="b"/>
          <a:lstStyle/>
          <a:p>
            <a:pPr indent="0" marL="0">
              <a:buNone/>
            </a:pPr>
            <a:r>
              <a:rPr lang="en-US" sz="4000" b="1" dirty="0">
                <a:solidFill>
                  <a:srgbClr val="1E2761"/>
                </a:solidFill>
                <a:latin typeface="Calibri" pitchFamily="34" charset="0"/>
                <a:ea typeface="Calibri" pitchFamily="34" charset="-122"/>
                <a:cs typeface="Calibri" pitchFamily="34" charset="-120"/>
              </a:rPr>
              <a:t>100%</a:t>
            </a:r>
            <a:endParaRPr lang="en-US" sz="4000" dirty="0"/>
          </a:p>
        </p:txBody>
      </p:sp>
      <p:sp>
        <p:nvSpPr>
          <p:cNvPr id="16" name="Text 14"/>
          <p:cNvSpPr/>
          <p:nvPr/>
        </p:nvSpPr>
        <p:spPr>
          <a:xfrm>
            <a:off x="566928" y="4690872"/>
            <a:ext cx="3291840" cy="502920"/>
          </a:xfrm>
          <a:prstGeom prst="rect">
            <a:avLst/>
          </a:prstGeom>
          <a:noFill/>
          <a:ln/>
        </p:spPr>
        <p:txBody>
          <a:bodyPr wrap="square" lIns="0" tIns="0" rIns="0" bIns="0" rtlCol="0" anchor="t"/>
          <a:lstStyle/>
          <a:p>
            <a:pPr indent="0" marL="0">
              <a:buNone/>
            </a:pPr>
            <a:r>
              <a:rPr lang="en-US" sz="1100" dirty="0">
                <a:solidFill>
                  <a:srgbClr val="6B7684"/>
                </a:solidFill>
                <a:latin typeface="Calibri" pitchFamily="34" charset="0"/>
                <a:ea typeface="Calibri" pitchFamily="34" charset="-122"/>
                <a:cs typeface="Calibri" pitchFamily="34" charset="-120"/>
              </a:rPr>
              <a:t>de los registros siguen esa fórmula</a:t>
            </a:r>
            <a:endParaRPr lang="en-US" sz="1100" dirty="0"/>
          </a:p>
        </p:txBody>
      </p:sp>
      <p:sp>
        <p:nvSpPr>
          <p:cNvPr id="17" name="Text 15"/>
          <p:cNvSpPr/>
          <p:nvPr/>
        </p:nvSpPr>
        <p:spPr>
          <a:xfrm>
            <a:off x="4270248" y="3977640"/>
            <a:ext cx="3291840" cy="685800"/>
          </a:xfrm>
          <a:prstGeom prst="rect">
            <a:avLst/>
          </a:prstGeom>
          <a:noFill/>
          <a:ln/>
        </p:spPr>
        <p:txBody>
          <a:bodyPr wrap="square" lIns="0" tIns="0" rIns="0" bIns="0" rtlCol="0" anchor="b"/>
          <a:lstStyle/>
          <a:p>
            <a:pPr indent="0" marL="0">
              <a:buNone/>
            </a:pPr>
            <a:r>
              <a:rPr lang="en-US" sz="4000" b="1" dirty="0">
                <a:solidFill>
                  <a:srgbClr val="1E2761"/>
                </a:solidFill>
                <a:latin typeface="Calibri" pitchFamily="34" charset="0"/>
                <a:ea typeface="Calibri" pitchFamily="34" charset="-122"/>
                <a:cs typeface="Calibri" pitchFamily="34" charset="-120"/>
              </a:rPr>
              <a:t>534.688</a:t>
            </a:r>
            <a:endParaRPr lang="en-US" sz="4000" dirty="0"/>
          </a:p>
        </p:txBody>
      </p:sp>
      <p:sp>
        <p:nvSpPr>
          <p:cNvPr id="18" name="Text 16"/>
          <p:cNvSpPr/>
          <p:nvPr/>
        </p:nvSpPr>
        <p:spPr>
          <a:xfrm>
            <a:off x="4270248" y="4690872"/>
            <a:ext cx="3291840" cy="502920"/>
          </a:xfrm>
          <a:prstGeom prst="rect">
            <a:avLst/>
          </a:prstGeom>
          <a:noFill/>
          <a:ln/>
        </p:spPr>
        <p:txBody>
          <a:bodyPr wrap="square" lIns="0" tIns="0" rIns="0" bIns="0" rtlCol="0" anchor="t"/>
          <a:lstStyle/>
          <a:p>
            <a:pPr indent="0" marL="0">
              <a:buNone/>
            </a:pPr>
            <a:r>
              <a:rPr lang="en-US" sz="1100" dirty="0">
                <a:solidFill>
                  <a:srgbClr val="6B7684"/>
                </a:solidFill>
                <a:latin typeface="Calibri" pitchFamily="34" charset="0"/>
                <a:ea typeface="Calibri" pitchFamily="34" charset="-122"/>
                <a:cs typeface="Calibri" pitchFamily="34" charset="-120"/>
              </a:rPr>
              <a:t>registros afectados, el 83,55%</a:t>
            </a:r>
            <a:endParaRPr lang="en-US" sz="1100" dirty="0"/>
          </a:p>
        </p:txBody>
      </p:sp>
      <p:sp>
        <p:nvSpPr>
          <p:cNvPr id="19" name="Text 17"/>
          <p:cNvSpPr/>
          <p:nvPr/>
        </p:nvSpPr>
        <p:spPr>
          <a:xfrm>
            <a:off x="7973568" y="3977640"/>
            <a:ext cx="3291840" cy="685800"/>
          </a:xfrm>
          <a:prstGeom prst="rect">
            <a:avLst/>
          </a:prstGeom>
          <a:noFill/>
          <a:ln/>
        </p:spPr>
        <p:txBody>
          <a:bodyPr wrap="square" lIns="0" tIns="0" rIns="0" bIns="0" rtlCol="0" anchor="b"/>
          <a:lstStyle/>
          <a:p>
            <a:pPr indent="0" marL="0">
              <a:buNone/>
            </a:pPr>
            <a:r>
              <a:rPr lang="en-US" sz="4000" b="1" dirty="0">
                <a:solidFill>
                  <a:srgbClr val="C0392B"/>
                </a:solidFill>
                <a:latin typeface="Calibri" pitchFamily="34" charset="0"/>
                <a:ea typeface="Calibri" pitchFamily="34" charset="-122"/>
                <a:cs typeface="Calibri" pitchFamily="34" charset="-120"/>
              </a:rPr>
              <a:t>0</a:t>
            </a:r>
            <a:endParaRPr lang="en-US" sz="4000" dirty="0"/>
          </a:p>
        </p:txBody>
      </p:sp>
      <p:sp>
        <p:nvSpPr>
          <p:cNvPr id="20" name="Text 18"/>
          <p:cNvSpPr/>
          <p:nvPr/>
        </p:nvSpPr>
        <p:spPr>
          <a:xfrm>
            <a:off x="7973568" y="4690872"/>
            <a:ext cx="3291840" cy="502920"/>
          </a:xfrm>
          <a:prstGeom prst="rect">
            <a:avLst/>
          </a:prstGeom>
          <a:noFill/>
          <a:ln/>
        </p:spPr>
        <p:txBody>
          <a:bodyPr wrap="square" lIns="0" tIns="0" rIns="0" bIns="0" rtlCol="0" anchor="t"/>
          <a:lstStyle/>
          <a:p>
            <a:pPr indent="0" marL="0">
              <a:buNone/>
            </a:pPr>
            <a:r>
              <a:rPr lang="en-US" sz="1100" dirty="0">
                <a:solidFill>
                  <a:srgbClr val="6B7684"/>
                </a:solidFill>
                <a:latin typeface="Calibri" pitchFamily="34" charset="0"/>
                <a:ea typeface="Calibri" pitchFamily="34" charset="-122"/>
                <a:cs typeface="Calibri" pitchFamily="34" charset="-120"/>
              </a:rPr>
              <a:t>correos que coincidan con id_cliente</a:t>
            </a:r>
            <a:endParaRPr lang="en-US" sz="1100" dirty="0"/>
          </a:p>
        </p:txBody>
      </p:sp>
      <p:sp>
        <p:nvSpPr>
          <p:cNvPr id="21" name="Shape 19"/>
          <p:cNvSpPr/>
          <p:nvPr/>
        </p:nvSpPr>
        <p:spPr>
          <a:xfrm>
            <a:off x="566928" y="5257800"/>
            <a:ext cx="11064240" cy="777240"/>
          </a:xfrm>
          <a:prstGeom prst="roundRect">
            <a:avLst>
              <a:gd name="adj" fmla="val 7059"/>
            </a:avLst>
          </a:prstGeom>
          <a:solidFill>
            <a:srgbClr val="E8F0FC"/>
          </a:solidFill>
          <a:ln w="12700">
            <a:solidFill>
              <a:srgbClr val="DDE4EE"/>
            </a:solidFill>
            <a:prstDash val="solid"/>
          </a:ln>
        </p:spPr>
      </p:sp>
      <p:sp>
        <p:nvSpPr>
          <p:cNvPr id="22" name="Text 20"/>
          <p:cNvSpPr/>
          <p:nvPr/>
        </p:nvSpPr>
        <p:spPr>
          <a:xfrm>
            <a:off x="804672" y="5376672"/>
            <a:ext cx="10607040" cy="5486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Consecuencia:  </a:t>
            </a:r>
            <a:pPr indent="0" marL="0">
              <a:buNone/>
            </a:pPr>
            <a:r>
              <a:rPr lang="en-US" sz="1300" dirty="0">
                <a:solidFill>
                  <a:srgbClr val="16181D"/>
                </a:solidFill>
                <a:latin typeface="Calibri" pitchFamily="34" charset="0"/>
                <a:ea typeface="Calibri" pitchFamily="34" charset="-122"/>
                <a:cs typeface="Calibri" pitchFamily="34" charset="-120"/>
              </a:rPr>
              <a:t>un mismo cliente aparece con un correo distinto en cada compra. La base de contacto de NovaMarket no existe como tal, y Marketing no puede ejecutar ninguna campaña por correo ni medir apertura.</a:t>
            </a:r>
            <a:endParaRPr lang="en-US" sz="1300" dirty="0"/>
          </a:p>
        </p:txBody>
      </p:sp>
      <p:sp>
        <p:nvSpPr>
          <p:cNvPr id="23" name="Text 21"/>
          <p:cNvSpPr/>
          <p:nvPr/>
        </p:nvSpPr>
        <p:spPr>
          <a:xfrm>
            <a:off x="10820095" y="6181344"/>
            <a:ext cx="822960" cy="292608"/>
          </a:xfrm>
          <a:prstGeom prst="rect">
            <a:avLst/>
          </a:prstGeom>
          <a:noFill/>
          <a:ln/>
        </p:spPr>
        <p:txBody>
          <a:bodyPr wrap="square" lIns="0" tIns="0" rIns="0" bIns="0" rtlCol="0" anchor="ctr"/>
          <a:lstStyle/>
          <a:p>
            <a:pPr algn="r" indent="0" marL="0">
              <a:buNone/>
            </a:pPr>
            <a:r>
              <a:rPr lang="en-US" sz="1000" dirty="0">
                <a:solidFill>
                  <a:srgbClr val="6B7684"/>
                </a:solidFill>
                <a:latin typeface="Calibri" pitchFamily="34" charset="0"/>
                <a:ea typeface="Calibri" pitchFamily="34" charset="-122"/>
                <a:cs typeface="Calibri" pitchFamily="34" charset="-120"/>
              </a:rPr>
              <a:t>10 / 19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493776"/>
            <a:ext cx="8229600" cy="256032"/>
          </a:xfrm>
          <a:prstGeom prst="rect">
            <a:avLst/>
          </a:prstGeom>
          <a:noFill/>
          <a:ln/>
        </p:spPr>
        <p:txBody>
          <a:bodyPr wrap="square" lIns="0" tIns="0" rIns="0" bIns="0" rtlCol="0" anchor="ctr"/>
          <a:lstStyle/>
          <a:p>
            <a:pPr indent="0" marL="0">
              <a:buNone/>
            </a:pPr>
            <a:r>
              <a:rPr lang="en-US" sz="1100" b="1" spc="220" kern="0" dirty="0">
                <a:solidFill>
                  <a:srgbClr val="1E2761"/>
                </a:solidFill>
                <a:latin typeface="Calibri" pitchFamily="34" charset="0"/>
                <a:ea typeface="Calibri" pitchFamily="34" charset="-122"/>
                <a:cs typeface="Calibri" pitchFamily="34" charset="-120"/>
              </a:rPr>
              <a:t>COMPLETITUD</a:t>
            </a:r>
            <a:endParaRPr lang="en-US" sz="1100" dirty="0"/>
          </a:p>
        </p:txBody>
      </p:sp>
      <p:sp>
        <p:nvSpPr>
          <p:cNvPr id="3" name="Text 1"/>
          <p:cNvSpPr/>
          <p:nvPr/>
        </p:nvSpPr>
        <p:spPr>
          <a:xfrm>
            <a:off x="566928" y="786384"/>
            <a:ext cx="10424160" cy="749808"/>
          </a:xfrm>
          <a:prstGeom prst="rect">
            <a:avLst/>
          </a:prstGeom>
          <a:noFill/>
          <a:ln/>
        </p:spPr>
        <p:txBody>
          <a:bodyPr wrap="square" lIns="0" tIns="0" rIns="0" bIns="0" rtlCol="0" anchor="ctr"/>
          <a:lstStyle/>
          <a:p>
            <a:pPr indent="0" marL="0">
              <a:buNone/>
            </a:pPr>
            <a:r>
              <a:rPr lang="en-US" sz="3400" b="1" dirty="0">
                <a:solidFill>
                  <a:srgbClr val="16181D"/>
                </a:solidFill>
                <a:latin typeface="Cambria" pitchFamily="34" charset="0"/>
                <a:ea typeface="Cambria" pitchFamily="34" charset="-122"/>
                <a:cs typeface="Cambria" pitchFamily="34" charset="-120"/>
              </a:rPr>
              <a:t>Por qué falta importa más que cuánto falta</a:t>
            </a:r>
            <a:endParaRPr lang="en-US" sz="3400" dirty="0"/>
          </a:p>
        </p:txBody>
      </p:sp>
      <p:sp>
        <p:nvSpPr>
          <p:cNvPr id="4" name="Text 2"/>
          <p:cNvSpPr/>
          <p:nvPr/>
        </p:nvSpPr>
        <p:spPr>
          <a:xfrm>
            <a:off x="566928" y="1554480"/>
            <a:ext cx="10424160" cy="365760"/>
          </a:xfrm>
          <a:prstGeom prst="rect">
            <a:avLst/>
          </a:prstGeom>
          <a:noFill/>
          <a:ln/>
        </p:spPr>
        <p:txBody>
          <a:bodyPr wrap="square" lIns="0" tIns="0" rIns="0" bIns="0" rtlCol="0" anchor="t"/>
          <a:lstStyle/>
          <a:p>
            <a:pPr indent="0" marL="0">
              <a:buNone/>
            </a:pPr>
            <a:r>
              <a:rPr lang="en-US" sz="1400" dirty="0">
                <a:solidFill>
                  <a:srgbClr val="6B7684"/>
                </a:solidFill>
                <a:latin typeface="Calibri" pitchFamily="34" charset="0"/>
                <a:ea typeface="Calibri" pitchFamily="34" charset="-122"/>
                <a:cs typeface="Calibri" pitchFamily="34" charset="-120"/>
              </a:rPr>
              <a:t>El mecanismo de ausencia determina si una imputación es válida o si introduce sesgo.</a:t>
            </a:r>
            <a:endParaRPr lang="en-US" sz="1400" dirty="0"/>
          </a:p>
        </p:txBody>
      </p:sp>
      <p:graphicFrame>
        <p:nvGraphicFramePr>
          <p:cNvPr id="5" name="Chart 0" descr=""/>
          <p:cNvGraphicFramePr/>
          <p:nvPr/>
        </p:nvGraphicFramePr>
        <p:xfrm>
          <a:off x="566928" y="2286000"/>
          <a:ext cx="630936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132320" y="2286000"/>
            <a:ext cx="4480560" cy="1097280"/>
          </a:xfrm>
          <a:prstGeom prst="roundRect">
            <a:avLst>
              <a:gd name="adj" fmla="val 5000"/>
            </a:avLst>
          </a:prstGeom>
          <a:solidFill>
            <a:srgbClr val="FFFFFF"/>
          </a:solidFill>
          <a:ln w="12700">
            <a:solidFill>
              <a:srgbClr val="DDE4EE"/>
            </a:solidFill>
            <a:prstDash val="solid"/>
          </a:ln>
          <a:effectLst>
            <a:outerShdw sx="100000" sy="100000" kx="0" ky="0" algn="bl" rotWithShape="0" blurRad="101600" dist="25400" dir="5400000">
              <a:srgbClr val="000000">
                <a:alpha val="10000"/>
              </a:srgbClr>
            </a:outerShdw>
          </a:effectLst>
        </p:spPr>
      </p:sp>
      <p:sp>
        <p:nvSpPr>
          <p:cNvPr id="7" name="Shape 4"/>
          <p:cNvSpPr/>
          <p:nvPr/>
        </p:nvSpPr>
        <p:spPr>
          <a:xfrm>
            <a:off x="7333488" y="2670048"/>
            <a:ext cx="329184" cy="329184"/>
          </a:xfrm>
          <a:prstGeom prst="ellipse">
            <a:avLst/>
          </a:prstGeom>
          <a:solidFill>
            <a:srgbClr val="D68910"/>
          </a:solidFill>
          <a:ln w="12700">
            <a:solidFill>
              <a:srgbClr val="D68910"/>
            </a:solidFill>
            <a:prstDash val="solid"/>
          </a:ln>
        </p:spPr>
      </p:sp>
      <p:sp>
        <p:nvSpPr>
          <p:cNvPr id="8" name="Text 5"/>
          <p:cNvSpPr/>
          <p:nvPr/>
        </p:nvSpPr>
        <p:spPr>
          <a:xfrm>
            <a:off x="7818120" y="2414016"/>
            <a:ext cx="2103120" cy="502920"/>
          </a:xfrm>
          <a:prstGeom prst="rect">
            <a:avLst/>
          </a:prstGeom>
          <a:noFill/>
          <a:ln/>
        </p:spPr>
        <p:txBody>
          <a:bodyPr wrap="square" lIns="0" tIns="0" rIns="0" bIns="0" rtlCol="0" anchor="ctr"/>
          <a:lstStyle/>
          <a:p>
            <a:pPr indent="0" marL="0">
              <a:buNone/>
            </a:pPr>
            <a:r>
              <a:rPr lang="en-US" sz="1250" b="1" dirty="0">
                <a:solidFill>
                  <a:srgbClr val="16181D"/>
                </a:solidFill>
                <a:latin typeface="Calibri" pitchFamily="34" charset="0"/>
                <a:ea typeface="Calibri" pitchFamily="34" charset="-122"/>
                <a:cs typeface="Calibri" pitchFamily="34" charset="-120"/>
              </a:rPr>
              <a:t>MAR demostrado</a:t>
            </a:r>
            <a:endParaRPr lang="en-US" sz="1250" dirty="0"/>
          </a:p>
        </p:txBody>
      </p:sp>
      <p:sp>
        <p:nvSpPr>
          <p:cNvPr id="9" name="Text 6"/>
          <p:cNvSpPr/>
          <p:nvPr/>
        </p:nvSpPr>
        <p:spPr>
          <a:xfrm>
            <a:off x="9966960" y="2414016"/>
            <a:ext cx="1463040" cy="320040"/>
          </a:xfrm>
          <a:prstGeom prst="rect">
            <a:avLst/>
          </a:prstGeom>
          <a:noFill/>
          <a:ln/>
        </p:spPr>
        <p:txBody>
          <a:bodyPr wrap="square" lIns="0" tIns="0" rIns="0" bIns="0" rtlCol="0" anchor="ctr"/>
          <a:lstStyle/>
          <a:p>
            <a:pPr algn="r" indent="0" marL="0">
              <a:buNone/>
            </a:pPr>
            <a:r>
              <a:rPr lang="en-US" sz="1200" b="1" dirty="0">
                <a:solidFill>
                  <a:srgbClr val="D68910"/>
                </a:solidFill>
                <a:latin typeface="Calibri" pitchFamily="34" charset="0"/>
                <a:ea typeface="Calibri" pitchFamily="34" charset="-122"/>
                <a:cs typeface="Calibri" pitchFamily="34" charset="-120"/>
              </a:rPr>
              <a:t>1 columna</a:t>
            </a:r>
            <a:endParaRPr lang="en-US" sz="1200" dirty="0"/>
          </a:p>
        </p:txBody>
      </p:sp>
      <p:sp>
        <p:nvSpPr>
          <p:cNvPr id="10" name="Text 7"/>
          <p:cNvSpPr/>
          <p:nvPr/>
        </p:nvSpPr>
        <p:spPr>
          <a:xfrm>
            <a:off x="7818120" y="2907792"/>
            <a:ext cx="3611880" cy="411480"/>
          </a:xfrm>
          <a:prstGeom prst="rect">
            <a:avLst/>
          </a:prstGeom>
          <a:noFill/>
          <a:ln/>
        </p:spPr>
        <p:txBody>
          <a:bodyPr wrap="square" lIns="0" tIns="0" rIns="0" bIns="0" rtlCol="0" anchor="t"/>
          <a:lstStyle/>
          <a:p>
            <a:pPr indent="0" marL="0">
              <a:buNone/>
            </a:pPr>
            <a:r>
              <a:rPr lang="en-US" sz="1050" dirty="0">
                <a:solidFill>
                  <a:srgbClr val="6B7684"/>
                </a:solidFill>
                <a:latin typeface="Calibri" pitchFamily="34" charset="0"/>
                <a:ea typeface="Calibri" pitchFamily="34" charset="-122"/>
                <a:cs typeface="Calibri" pitchFamily="34" charset="-120"/>
              </a:rPr>
              <a:t>Se imputa condicionando en la variable que lo explica</a:t>
            </a:r>
            <a:endParaRPr lang="en-US" sz="1050" dirty="0"/>
          </a:p>
        </p:txBody>
      </p:sp>
      <p:sp>
        <p:nvSpPr>
          <p:cNvPr id="11" name="Shape 8"/>
          <p:cNvSpPr/>
          <p:nvPr/>
        </p:nvSpPr>
        <p:spPr>
          <a:xfrm>
            <a:off x="7132320" y="3520440"/>
            <a:ext cx="4480560" cy="1097280"/>
          </a:xfrm>
          <a:prstGeom prst="roundRect">
            <a:avLst>
              <a:gd name="adj" fmla="val 5000"/>
            </a:avLst>
          </a:prstGeom>
          <a:solidFill>
            <a:srgbClr val="FFFFFF"/>
          </a:solidFill>
          <a:ln w="12700">
            <a:solidFill>
              <a:srgbClr val="DDE4EE"/>
            </a:solidFill>
            <a:prstDash val="solid"/>
          </a:ln>
          <a:effectLst>
            <a:outerShdw sx="100000" sy="100000" kx="0" ky="0" algn="bl" rotWithShape="0" blurRad="101600" dist="25400" dir="5400000">
              <a:srgbClr val="000000">
                <a:alpha val="10000"/>
              </a:srgbClr>
            </a:outerShdw>
          </a:effectLst>
        </p:spPr>
      </p:sp>
      <p:sp>
        <p:nvSpPr>
          <p:cNvPr id="12" name="Shape 9"/>
          <p:cNvSpPr/>
          <p:nvPr/>
        </p:nvSpPr>
        <p:spPr>
          <a:xfrm>
            <a:off x="7333488" y="3904488"/>
            <a:ext cx="329184" cy="329184"/>
          </a:xfrm>
          <a:prstGeom prst="ellipse">
            <a:avLst/>
          </a:prstGeom>
          <a:solidFill>
            <a:srgbClr val="1E2761"/>
          </a:solidFill>
          <a:ln w="12700">
            <a:solidFill>
              <a:srgbClr val="1E2761"/>
            </a:solidFill>
            <a:prstDash val="solid"/>
          </a:ln>
        </p:spPr>
      </p:sp>
      <p:sp>
        <p:nvSpPr>
          <p:cNvPr id="13" name="Text 10"/>
          <p:cNvSpPr/>
          <p:nvPr/>
        </p:nvSpPr>
        <p:spPr>
          <a:xfrm>
            <a:off x="7818120" y="3648456"/>
            <a:ext cx="2103120" cy="502920"/>
          </a:xfrm>
          <a:prstGeom prst="rect">
            <a:avLst/>
          </a:prstGeom>
          <a:noFill/>
          <a:ln/>
        </p:spPr>
        <p:txBody>
          <a:bodyPr wrap="square" lIns="0" tIns="0" rIns="0" bIns="0" rtlCol="0" anchor="ctr"/>
          <a:lstStyle/>
          <a:p>
            <a:pPr indent="0" marL="0">
              <a:buNone/>
            </a:pPr>
            <a:r>
              <a:rPr lang="en-US" sz="1250" b="1" dirty="0">
                <a:solidFill>
                  <a:srgbClr val="16181D"/>
                </a:solidFill>
                <a:latin typeface="Calibri" pitchFamily="34" charset="0"/>
                <a:ea typeface="Calibri" pitchFamily="34" charset="-122"/>
                <a:cs typeface="Calibri" pitchFamily="34" charset="-120"/>
              </a:rPr>
              <a:t>MCAR aparente,</a:t>
            </a:r>
            <a:endParaRPr lang="en-US" sz="1250" dirty="0"/>
          </a:p>
          <a:p>
            <a:pPr indent="0" marL="0">
              <a:buNone/>
            </a:pPr>
            <a:r>
              <a:rPr lang="en-US" sz="1250" b="1" dirty="0">
                <a:solidFill>
                  <a:srgbClr val="16181D"/>
                </a:solidFill>
                <a:latin typeface="Calibri" pitchFamily="34" charset="0"/>
                <a:ea typeface="Calibri" pitchFamily="34" charset="-122"/>
                <a:cs typeface="Calibri" pitchFamily="34" charset="-120"/>
              </a:rPr>
              <a:t>MNAR no descartable</a:t>
            </a:r>
            <a:endParaRPr lang="en-US" sz="1250" dirty="0"/>
          </a:p>
        </p:txBody>
      </p:sp>
      <p:sp>
        <p:nvSpPr>
          <p:cNvPr id="14" name="Text 11"/>
          <p:cNvSpPr/>
          <p:nvPr/>
        </p:nvSpPr>
        <p:spPr>
          <a:xfrm>
            <a:off x="9966960" y="3648456"/>
            <a:ext cx="1463040" cy="320040"/>
          </a:xfrm>
          <a:prstGeom prst="rect">
            <a:avLst/>
          </a:prstGeom>
          <a:noFill/>
          <a:ln/>
        </p:spPr>
        <p:txBody>
          <a:bodyPr wrap="square" lIns="0" tIns="0" rIns="0" bIns="0" rtlCol="0" anchor="ctr"/>
          <a:lstStyle/>
          <a:p>
            <a:pPr algn="r" indent="0" marL="0">
              <a:buNone/>
            </a:pPr>
            <a:r>
              <a:rPr lang="en-US" sz="1200" b="1" dirty="0">
                <a:solidFill>
                  <a:srgbClr val="1E2761"/>
                </a:solidFill>
                <a:latin typeface="Calibri" pitchFamily="34" charset="0"/>
                <a:ea typeface="Calibri" pitchFamily="34" charset="-122"/>
                <a:cs typeface="Calibri" pitchFamily="34" charset="-120"/>
              </a:rPr>
              <a:t>5 columnas</a:t>
            </a:r>
            <a:endParaRPr lang="en-US" sz="1200" dirty="0"/>
          </a:p>
        </p:txBody>
      </p:sp>
      <p:sp>
        <p:nvSpPr>
          <p:cNvPr id="15" name="Text 12"/>
          <p:cNvSpPr/>
          <p:nvPr/>
        </p:nvSpPr>
        <p:spPr>
          <a:xfrm>
            <a:off x="7818120" y="4142232"/>
            <a:ext cx="3611880" cy="411480"/>
          </a:xfrm>
          <a:prstGeom prst="rect">
            <a:avLst/>
          </a:prstGeom>
          <a:noFill/>
          <a:ln/>
        </p:spPr>
        <p:txBody>
          <a:bodyPr wrap="square" lIns="0" tIns="0" rIns="0" bIns="0" rtlCol="0" anchor="t"/>
          <a:lstStyle/>
          <a:p>
            <a:pPr indent="0" marL="0">
              <a:buNone/>
            </a:pPr>
            <a:r>
              <a:rPr lang="en-US" sz="1050" dirty="0">
                <a:solidFill>
                  <a:srgbClr val="6B7684"/>
                </a:solidFill>
                <a:latin typeface="Calibri" pitchFamily="34" charset="0"/>
                <a:ea typeface="Calibri" pitchFamily="34" charset="-122"/>
                <a:cs typeface="Calibri" pitchFamily="34" charset="-120"/>
              </a:rPr>
              <a:t>Se marca, no se imputa: la evidencia descarta MAR pero no distingue entre los otros dos</a:t>
            </a:r>
            <a:endParaRPr lang="en-US" sz="1050" dirty="0"/>
          </a:p>
        </p:txBody>
      </p:sp>
      <p:sp>
        <p:nvSpPr>
          <p:cNvPr id="16" name="Shape 13"/>
          <p:cNvSpPr/>
          <p:nvPr/>
        </p:nvSpPr>
        <p:spPr>
          <a:xfrm>
            <a:off x="7132320" y="4754880"/>
            <a:ext cx="4480560" cy="1097280"/>
          </a:xfrm>
          <a:prstGeom prst="roundRect">
            <a:avLst>
              <a:gd name="adj" fmla="val 5000"/>
            </a:avLst>
          </a:prstGeom>
          <a:solidFill>
            <a:srgbClr val="FFFFFF"/>
          </a:solidFill>
          <a:ln w="12700">
            <a:solidFill>
              <a:srgbClr val="DDE4EE"/>
            </a:solidFill>
            <a:prstDash val="solid"/>
          </a:ln>
          <a:effectLst>
            <a:outerShdw sx="100000" sy="100000" kx="0" ky="0" algn="bl" rotWithShape="0" blurRad="101600" dist="25400" dir="5400000">
              <a:srgbClr val="000000">
                <a:alpha val="10000"/>
              </a:srgbClr>
            </a:outerShdw>
          </a:effectLst>
        </p:spPr>
      </p:sp>
      <p:sp>
        <p:nvSpPr>
          <p:cNvPr id="17" name="Shape 14"/>
          <p:cNvSpPr/>
          <p:nvPr/>
        </p:nvSpPr>
        <p:spPr>
          <a:xfrm>
            <a:off x="7333488" y="5138928"/>
            <a:ext cx="329184" cy="329184"/>
          </a:xfrm>
          <a:prstGeom prst="ellipse">
            <a:avLst/>
          </a:prstGeom>
          <a:solidFill>
            <a:srgbClr val="6B7684"/>
          </a:solidFill>
          <a:ln w="12700">
            <a:solidFill>
              <a:srgbClr val="6B7684"/>
            </a:solidFill>
            <a:prstDash val="solid"/>
          </a:ln>
        </p:spPr>
      </p:sp>
      <p:sp>
        <p:nvSpPr>
          <p:cNvPr id="18" name="Text 15"/>
          <p:cNvSpPr/>
          <p:nvPr/>
        </p:nvSpPr>
        <p:spPr>
          <a:xfrm>
            <a:off x="7818120" y="4882896"/>
            <a:ext cx="2103120" cy="502920"/>
          </a:xfrm>
          <a:prstGeom prst="rect">
            <a:avLst/>
          </a:prstGeom>
          <a:noFill/>
          <a:ln/>
        </p:spPr>
        <p:txBody>
          <a:bodyPr wrap="square" lIns="0" tIns="0" rIns="0" bIns="0" rtlCol="0" anchor="ctr"/>
          <a:lstStyle/>
          <a:p>
            <a:pPr indent="0" marL="0">
              <a:buNone/>
            </a:pPr>
            <a:r>
              <a:rPr lang="en-US" sz="1250" b="1" dirty="0">
                <a:solidFill>
                  <a:srgbClr val="16181D"/>
                </a:solidFill>
                <a:latin typeface="Calibri" pitchFamily="34" charset="0"/>
                <a:ea typeface="Calibri" pitchFamily="34" charset="-122"/>
                <a:cs typeface="Calibri" pitchFamily="34" charset="-120"/>
              </a:rPr>
              <a:t>MNAR por diseño</a:t>
            </a:r>
            <a:endParaRPr lang="en-US" sz="1250" dirty="0"/>
          </a:p>
        </p:txBody>
      </p:sp>
      <p:sp>
        <p:nvSpPr>
          <p:cNvPr id="19" name="Text 16"/>
          <p:cNvSpPr/>
          <p:nvPr/>
        </p:nvSpPr>
        <p:spPr>
          <a:xfrm>
            <a:off x="9966960" y="4882896"/>
            <a:ext cx="1463040" cy="320040"/>
          </a:xfrm>
          <a:prstGeom prst="rect">
            <a:avLst/>
          </a:prstGeom>
          <a:noFill/>
          <a:ln/>
        </p:spPr>
        <p:txBody>
          <a:bodyPr wrap="square" lIns="0" tIns="0" rIns="0" bIns="0" rtlCol="0" anchor="ctr"/>
          <a:lstStyle/>
          <a:p>
            <a:pPr algn="r" indent="0" marL="0">
              <a:buNone/>
            </a:pPr>
            <a:r>
              <a:rPr lang="en-US" sz="1200" b="1" dirty="0">
                <a:solidFill>
                  <a:srgbClr val="6B7684"/>
                </a:solidFill>
                <a:latin typeface="Calibri" pitchFamily="34" charset="0"/>
                <a:ea typeface="Calibri" pitchFamily="34" charset="-122"/>
                <a:cs typeface="Calibri" pitchFamily="34" charset="-120"/>
              </a:rPr>
              <a:t>1 columna</a:t>
            </a:r>
            <a:endParaRPr lang="en-US" sz="1200" dirty="0"/>
          </a:p>
        </p:txBody>
      </p:sp>
      <p:sp>
        <p:nvSpPr>
          <p:cNvPr id="20" name="Text 17"/>
          <p:cNvSpPr/>
          <p:nvPr/>
        </p:nvSpPr>
        <p:spPr>
          <a:xfrm>
            <a:off x="7818120" y="5376672"/>
            <a:ext cx="3611880" cy="411480"/>
          </a:xfrm>
          <a:prstGeom prst="rect">
            <a:avLst/>
          </a:prstGeom>
          <a:noFill/>
          <a:ln/>
        </p:spPr>
        <p:txBody>
          <a:bodyPr wrap="square" lIns="0" tIns="0" rIns="0" bIns="0" rtlCol="0" anchor="t"/>
          <a:lstStyle/>
          <a:p>
            <a:pPr indent="0" marL="0">
              <a:buNone/>
            </a:pPr>
            <a:r>
              <a:rPr lang="en-US" sz="1050" dirty="0">
                <a:solidFill>
                  <a:srgbClr val="6B7684"/>
                </a:solidFill>
                <a:latin typeface="Calibri" pitchFamily="34" charset="0"/>
                <a:ea typeface="Calibri" pitchFamily="34" charset="-122"/>
                <a:cs typeface="Calibri" pitchFamily="34" charset="-120"/>
              </a:rPr>
              <a:t>La ausencia es informativa en sí misma</a:t>
            </a:r>
            <a:endParaRPr lang="en-US" sz="1050" dirty="0"/>
          </a:p>
        </p:txBody>
      </p:sp>
      <p:sp>
        <p:nvSpPr>
          <p:cNvPr id="21" name="Shape 18"/>
          <p:cNvSpPr/>
          <p:nvPr/>
        </p:nvSpPr>
        <p:spPr>
          <a:xfrm>
            <a:off x="7132320" y="5943600"/>
            <a:ext cx="4480560" cy="0"/>
          </a:xfrm>
          <a:prstGeom prst="roundRect">
            <a:avLst>
              <a:gd name="adj" fmla="val Infinity"/>
            </a:avLst>
          </a:prstGeom>
          <a:solidFill>
            <a:srgbClr val="FFFFFF"/>
          </a:solidFill>
          <a:ln w="12700">
            <a:solidFill>
              <a:srgbClr val="FFFFFF"/>
            </a:solidFill>
            <a:prstDash val="solid"/>
          </a:ln>
        </p:spPr>
      </p:sp>
      <p:sp>
        <p:nvSpPr>
          <p:cNvPr id="22" name="Text 19"/>
          <p:cNvSpPr/>
          <p:nvPr/>
        </p:nvSpPr>
        <p:spPr>
          <a:xfrm>
            <a:off x="566928" y="6181344"/>
            <a:ext cx="9509760" cy="292608"/>
          </a:xfrm>
          <a:prstGeom prst="rect">
            <a:avLst/>
          </a:prstGeom>
          <a:noFill/>
          <a:ln/>
        </p:spPr>
        <p:txBody>
          <a:bodyPr wrap="square" lIns="0" tIns="0" rIns="0" bIns="0" rtlCol="0" anchor="ctr"/>
          <a:lstStyle/>
          <a:p>
            <a:pPr indent="0" marL="0">
              <a:buNone/>
            </a:pPr>
            <a:r>
              <a:rPr lang="en-US" sz="1000" dirty="0">
                <a:solidFill>
                  <a:srgbClr val="6B7684"/>
                </a:solidFill>
                <a:latin typeface="Calibri" pitchFamily="34" charset="0"/>
                <a:ea typeface="Calibri" pitchFamily="34" charset="-122"/>
                <a:cs typeface="Calibri" pitchFamily="34" charset="-120"/>
              </a:rPr>
              <a:t>Porcentajes sobre el archivo deduplicado de 620.000 registros · de las 7 columnas con vacíos solo 1 se imputa, y por deducción exacta desde el código postal, no por estimación</a:t>
            </a:r>
            <a:endParaRPr lang="en-US" sz="1000" dirty="0"/>
          </a:p>
        </p:txBody>
      </p:sp>
      <p:sp>
        <p:nvSpPr>
          <p:cNvPr id="23" name="Text 20"/>
          <p:cNvSpPr/>
          <p:nvPr/>
        </p:nvSpPr>
        <p:spPr>
          <a:xfrm>
            <a:off x="10820095" y="6181344"/>
            <a:ext cx="822960" cy="292608"/>
          </a:xfrm>
          <a:prstGeom prst="rect">
            <a:avLst/>
          </a:prstGeom>
          <a:noFill/>
          <a:ln/>
        </p:spPr>
        <p:txBody>
          <a:bodyPr wrap="square" lIns="0" tIns="0" rIns="0" bIns="0" rtlCol="0" anchor="ctr"/>
          <a:lstStyle/>
          <a:p>
            <a:pPr algn="r" indent="0" marL="0">
              <a:buNone/>
            </a:pPr>
            <a:r>
              <a:rPr lang="en-US" sz="1000" dirty="0">
                <a:solidFill>
                  <a:srgbClr val="6B7684"/>
                </a:solidFill>
                <a:latin typeface="Calibri" pitchFamily="34" charset="0"/>
                <a:ea typeface="Calibri" pitchFamily="34" charset="-122"/>
                <a:cs typeface="Calibri" pitchFamily="34" charset="-120"/>
              </a:rPr>
              <a:t>11 / 19</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493776"/>
            <a:ext cx="8229600" cy="256032"/>
          </a:xfrm>
          <a:prstGeom prst="rect">
            <a:avLst/>
          </a:prstGeom>
          <a:noFill/>
          <a:ln/>
        </p:spPr>
        <p:txBody>
          <a:bodyPr wrap="square" lIns="0" tIns="0" rIns="0" bIns="0" rtlCol="0" anchor="ctr"/>
          <a:lstStyle/>
          <a:p>
            <a:pPr indent="0" marL="0">
              <a:buNone/>
            </a:pPr>
            <a:r>
              <a:rPr lang="en-US" sz="1100" b="1" spc="220" kern="0" dirty="0">
                <a:solidFill>
                  <a:srgbClr val="1E2761"/>
                </a:solidFill>
                <a:latin typeface="Calibri" pitchFamily="34" charset="0"/>
                <a:ea typeface="Calibri" pitchFamily="34" charset="-122"/>
                <a:cs typeface="Calibri" pitchFamily="34" charset="-120"/>
              </a:rPr>
              <a:t>LA EVIDENCIA</a:t>
            </a:r>
            <a:endParaRPr lang="en-US" sz="1100" dirty="0"/>
          </a:p>
        </p:txBody>
      </p:sp>
      <p:sp>
        <p:nvSpPr>
          <p:cNvPr id="3" name="Text 1"/>
          <p:cNvSpPr/>
          <p:nvPr/>
        </p:nvSpPr>
        <p:spPr>
          <a:xfrm>
            <a:off x="566928" y="786384"/>
            <a:ext cx="10424160" cy="749808"/>
          </a:xfrm>
          <a:prstGeom prst="rect">
            <a:avLst/>
          </a:prstGeom>
          <a:noFill/>
          <a:ln/>
        </p:spPr>
        <p:txBody>
          <a:bodyPr wrap="square" lIns="0" tIns="0" rIns="0" bIns="0" rtlCol="0" anchor="ctr"/>
          <a:lstStyle/>
          <a:p>
            <a:pPr indent="0" marL="0">
              <a:buNone/>
            </a:pPr>
            <a:r>
              <a:rPr lang="en-US" sz="3400" b="1" dirty="0">
                <a:solidFill>
                  <a:srgbClr val="16181D"/>
                </a:solidFill>
                <a:latin typeface="Cambria" pitchFamily="34" charset="0"/>
                <a:ea typeface="Cambria" pitchFamily="34" charset="-122"/>
                <a:cs typeface="Cambria" pitchFamily="34" charset="-120"/>
              </a:rPr>
              <a:t>Un solo mecanismo se puede demostrar: MAR</a:t>
            </a:r>
            <a:endParaRPr lang="en-US" sz="3400" dirty="0"/>
          </a:p>
        </p:txBody>
      </p:sp>
      <p:graphicFrame>
        <p:nvGraphicFramePr>
          <p:cNvPr id="4" name="Chart 0" descr=""/>
          <p:cNvGraphicFramePr/>
          <p:nvPr/>
        </p:nvGraphicFramePr>
        <p:xfrm>
          <a:off x="566928" y="2103120"/>
          <a:ext cx="6492240" cy="37490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406640" y="2286000"/>
            <a:ext cx="4206240" cy="685800"/>
          </a:xfrm>
          <a:prstGeom prst="rect">
            <a:avLst/>
          </a:prstGeom>
          <a:noFill/>
          <a:ln/>
        </p:spPr>
        <p:txBody>
          <a:bodyPr wrap="square" lIns="0" tIns="0" rIns="0" bIns="0" rtlCol="0" anchor="b"/>
          <a:lstStyle/>
          <a:p>
            <a:pPr indent="0" marL="0">
              <a:buNone/>
            </a:pPr>
            <a:r>
              <a:rPr lang="en-US" sz="4000" b="1" dirty="0">
                <a:solidFill>
                  <a:srgbClr val="C0392B"/>
                </a:solidFill>
                <a:latin typeface="Calibri" pitchFamily="34" charset="0"/>
                <a:ea typeface="Calibri" pitchFamily="34" charset="-122"/>
                <a:cs typeface="Calibri" pitchFamily="34" charset="-120"/>
              </a:rPr>
              <a:t>6,9×</a:t>
            </a:r>
            <a:endParaRPr lang="en-US" sz="4000" dirty="0"/>
          </a:p>
        </p:txBody>
      </p:sp>
      <p:sp>
        <p:nvSpPr>
          <p:cNvPr id="6" name="Text 3"/>
          <p:cNvSpPr/>
          <p:nvPr/>
        </p:nvSpPr>
        <p:spPr>
          <a:xfrm>
            <a:off x="7406640" y="2999232"/>
            <a:ext cx="4206240" cy="502920"/>
          </a:xfrm>
          <a:prstGeom prst="rect">
            <a:avLst/>
          </a:prstGeom>
          <a:noFill/>
          <a:ln/>
        </p:spPr>
        <p:txBody>
          <a:bodyPr wrap="square" lIns="0" tIns="0" rIns="0" bIns="0" rtlCol="0" anchor="t"/>
          <a:lstStyle/>
          <a:p>
            <a:pPr indent="0" marL="0">
              <a:buNone/>
            </a:pPr>
            <a:r>
              <a:rPr lang="en-US" sz="1100" dirty="0">
                <a:solidFill>
                  <a:srgbClr val="6B7684"/>
                </a:solidFill>
                <a:latin typeface="Calibri" pitchFamily="34" charset="0"/>
                <a:ea typeface="Calibri" pitchFamily="34" charset="-122"/>
                <a:cs typeface="Calibri" pitchFamily="34" charset="-120"/>
              </a:rPr>
              <a:t>más ausencia en el canal App que en cualquier otro canal</a:t>
            </a:r>
            <a:endParaRPr lang="en-US" sz="1100" dirty="0"/>
          </a:p>
        </p:txBody>
      </p:sp>
      <p:sp>
        <p:nvSpPr>
          <p:cNvPr id="7" name="Text 4"/>
          <p:cNvSpPr/>
          <p:nvPr/>
        </p:nvSpPr>
        <p:spPr>
          <a:xfrm>
            <a:off x="7406640" y="3657600"/>
            <a:ext cx="4206240" cy="2103120"/>
          </a:xfrm>
          <a:prstGeom prst="rect">
            <a:avLst/>
          </a:prstGeom>
          <a:noFill/>
          <a:ln/>
        </p:spPr>
        <p:txBody>
          <a:bodyPr wrap="square" lIns="0" tIns="0" rIns="0" bIns="0" rtlCol="0" anchor="t"/>
          <a:lstStyle/>
          <a:p>
            <a:pPr indent="0" marL="0">
              <a:buNone/>
            </a:pPr>
            <a:r>
              <a:rPr lang="en-US" sz="1300" b="1" dirty="0">
                <a:solidFill>
                  <a:srgbClr val="16181D"/>
                </a:solidFill>
                <a:latin typeface="Calibri" pitchFamily="34" charset="0"/>
                <a:ea typeface="Calibri" pitchFamily="34" charset="-122"/>
                <a:cs typeface="Calibri" pitchFamily="34" charset="-120"/>
              </a:rPr>
              <a:t>El canal explica la ausencia, y eso se puede probar.
</a:t>
            </a:r>
            <a:pPr indent="0" marL="0">
              <a:buNone/>
            </a:pPr>
            <a:r>
              <a:rPr lang="en-US" sz="1300" dirty="0">
                <a:solidFill>
                  <a:srgbClr val="1E2761"/>
                </a:solidFill>
                <a:latin typeface="Calibri" pitchFamily="34" charset="0"/>
                <a:ea typeface="Calibri" pitchFamily="34" charset="-122"/>
                <a:cs typeface="Calibri" pitchFamily="34" charset="-120"/>
              </a:rPr>
              <a:t>V de Cramér = 0,291 con p &lt; 0,001 · AUC = 0,743
</a:t>
            </a:r>
            <a:pPr indent="0" marL="0">
              <a:buNone/>
            </a:pPr>
            <a:r>
              <a:rPr lang="en-US" sz="1300" dirty="0">
                <a:solidFill>
                  <a:srgbClr val="16181D"/>
                </a:solidFill>
                <a:latin typeface="Calibri" pitchFamily="34" charset="0"/>
                <a:ea typeface="Calibri" pitchFamily="34" charset="-122"/>
                <a:cs typeface="Calibri" pitchFamily="34" charset="-120"/>
              </a:rPr>
              <a:t>La decisión no fue imputar un nivel de satisfacción, porque eso fabricaría una opinión que el cliente nunca dio. Se creó la categoría explícita «Sin dato» con su columna indicadora.</a:t>
            </a:r>
            <a:endParaRPr lang="en-US" sz="1300" dirty="0"/>
          </a:p>
        </p:txBody>
      </p:sp>
      <p:sp>
        <p:nvSpPr>
          <p:cNvPr id="8" name="Text 5"/>
          <p:cNvSpPr/>
          <p:nvPr/>
        </p:nvSpPr>
        <p:spPr>
          <a:xfrm>
            <a:off x="566928" y="6181344"/>
            <a:ext cx="9509760" cy="292608"/>
          </a:xfrm>
          <a:prstGeom prst="rect">
            <a:avLst/>
          </a:prstGeom>
          <a:noFill/>
          <a:ln/>
        </p:spPr>
        <p:txBody>
          <a:bodyPr wrap="square" lIns="0" tIns="0" rIns="0" bIns="0" rtlCol="0" anchor="ctr"/>
          <a:lstStyle/>
          <a:p>
            <a:pPr indent="0" marL="0">
              <a:buNone/>
            </a:pPr>
            <a:r>
              <a:rPr lang="en-US" sz="1000" dirty="0">
                <a:solidFill>
                  <a:srgbClr val="6B7684"/>
                </a:solidFill>
                <a:latin typeface="Calibri" pitchFamily="34" charset="0"/>
                <a:ea typeface="Calibri" pitchFamily="34" charset="-122"/>
                <a:cs typeface="Calibri" pitchFamily="34" charset="-120"/>
              </a:rPr>
              <a:t>Cuando ninguna variable observada explica la ausencia, la evidencia descarta MAR pero es compatible a la vez con MCAR y con MNAR</a:t>
            </a:r>
            <a:endParaRPr lang="en-US" sz="1000" dirty="0"/>
          </a:p>
        </p:txBody>
      </p:sp>
      <p:sp>
        <p:nvSpPr>
          <p:cNvPr id="9" name="Text 6"/>
          <p:cNvSpPr/>
          <p:nvPr/>
        </p:nvSpPr>
        <p:spPr>
          <a:xfrm>
            <a:off x="10820095" y="6181344"/>
            <a:ext cx="822960" cy="292608"/>
          </a:xfrm>
          <a:prstGeom prst="rect">
            <a:avLst/>
          </a:prstGeom>
          <a:noFill/>
          <a:ln/>
        </p:spPr>
        <p:txBody>
          <a:bodyPr wrap="square" lIns="0" tIns="0" rIns="0" bIns="0" rtlCol="0" anchor="ctr"/>
          <a:lstStyle/>
          <a:p>
            <a:pPr algn="r" indent="0" marL="0">
              <a:buNone/>
            </a:pPr>
            <a:r>
              <a:rPr lang="en-US" sz="1000" dirty="0">
                <a:solidFill>
                  <a:srgbClr val="6B7684"/>
                </a:solidFill>
                <a:latin typeface="Calibri" pitchFamily="34" charset="0"/>
                <a:ea typeface="Calibri" pitchFamily="34" charset="-122"/>
                <a:cs typeface="Calibri" pitchFamily="34" charset="-120"/>
              </a:rPr>
              <a:t>12 / 19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961120" y="3566160"/>
            <a:ext cx="5120640" cy="5120640"/>
          </a:xfrm>
          <a:prstGeom prst="ellipse">
            <a:avLst/>
          </a:prstGeom>
          <a:solidFill>
            <a:srgbClr val="2C3A73">
              <a:alpha val="50000"/>
            </a:srgbClr>
          </a:solidFill>
          <a:ln w="12700">
            <a:solidFill>
              <a:srgbClr val="2C3A73">
                <a:alpha val="0"/>
              </a:srgbClr>
            </a:solidFill>
            <a:prstDash val="solid"/>
          </a:ln>
        </p:spPr>
      </p:sp>
      <p:sp>
        <p:nvSpPr>
          <p:cNvPr id="3" name="Text 1"/>
          <p:cNvSpPr/>
          <p:nvPr/>
        </p:nvSpPr>
        <p:spPr>
          <a:xfrm>
            <a:off x="914400" y="2011680"/>
            <a:ext cx="1828800" cy="1188720"/>
          </a:xfrm>
          <a:prstGeom prst="rect">
            <a:avLst/>
          </a:prstGeom>
          <a:noFill/>
          <a:ln/>
        </p:spPr>
        <p:txBody>
          <a:bodyPr wrap="square" lIns="0" tIns="0" rIns="0" bIns="0" rtlCol="0" anchor="ctr"/>
          <a:lstStyle/>
          <a:p>
            <a:pPr indent="0" marL="0">
              <a:buNone/>
            </a:pPr>
            <a:r>
              <a:rPr lang="en-US" sz="7200" b="1" dirty="0">
                <a:solidFill>
                  <a:srgbClr val="6E86C9"/>
                </a:solidFill>
                <a:latin typeface="Calibri" pitchFamily="34" charset="0"/>
                <a:ea typeface="Calibri" pitchFamily="34" charset="-122"/>
                <a:cs typeface="Calibri" pitchFamily="34" charset="-120"/>
              </a:rPr>
              <a:t>02</a:t>
            </a:r>
            <a:endParaRPr lang="en-US" sz="7200" dirty="0"/>
          </a:p>
        </p:txBody>
      </p:sp>
      <p:sp>
        <p:nvSpPr>
          <p:cNvPr id="4" name="Text 2"/>
          <p:cNvSpPr/>
          <p:nvPr/>
        </p:nvSpPr>
        <p:spPr>
          <a:xfrm>
            <a:off x="914400" y="3108960"/>
            <a:ext cx="914400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El plan de saneamiento</a:t>
            </a:r>
            <a:endParaRPr lang="en-US" sz="4200" dirty="0"/>
          </a:p>
        </p:txBody>
      </p:sp>
      <p:sp>
        <p:nvSpPr>
          <p:cNvPr id="5" name="Text 3"/>
          <p:cNvSpPr/>
          <p:nvPr/>
        </p:nvSpPr>
        <p:spPr>
          <a:xfrm>
            <a:off x="914400" y="4023360"/>
            <a:ext cx="8686800" cy="45720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35 problemas, 35 decisiones documentadas: 31 se tratan y 4 se declaran como limitación</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493776"/>
            <a:ext cx="8229600" cy="256032"/>
          </a:xfrm>
          <a:prstGeom prst="rect">
            <a:avLst/>
          </a:prstGeom>
          <a:noFill/>
          <a:ln/>
        </p:spPr>
        <p:txBody>
          <a:bodyPr wrap="square" lIns="0" tIns="0" rIns="0" bIns="0" rtlCol="0" anchor="ctr"/>
          <a:lstStyle/>
          <a:p>
            <a:pPr indent="0" marL="0">
              <a:buNone/>
            </a:pPr>
            <a:r>
              <a:rPr lang="en-US" sz="1100" b="1" spc="220" kern="0" dirty="0">
                <a:solidFill>
                  <a:srgbClr val="1E2761"/>
                </a:solidFill>
                <a:latin typeface="Calibri" pitchFamily="34" charset="0"/>
                <a:ea typeface="Calibri" pitchFamily="34" charset="-122"/>
                <a:cs typeface="Calibri" pitchFamily="34" charset="-120"/>
              </a:rPr>
              <a:t>CRITERIO</a:t>
            </a:r>
            <a:endParaRPr lang="en-US" sz="1100" dirty="0"/>
          </a:p>
        </p:txBody>
      </p:sp>
      <p:sp>
        <p:nvSpPr>
          <p:cNvPr id="3" name="Text 1"/>
          <p:cNvSpPr/>
          <p:nvPr/>
        </p:nvSpPr>
        <p:spPr>
          <a:xfrm>
            <a:off x="566928" y="786384"/>
            <a:ext cx="10424160" cy="749808"/>
          </a:xfrm>
          <a:prstGeom prst="rect">
            <a:avLst/>
          </a:prstGeom>
          <a:noFill/>
          <a:ln/>
        </p:spPr>
        <p:txBody>
          <a:bodyPr wrap="square" lIns="0" tIns="0" rIns="0" bIns="0" rtlCol="0" anchor="ctr"/>
          <a:lstStyle/>
          <a:p>
            <a:pPr indent="0" marL="0">
              <a:buNone/>
            </a:pPr>
            <a:r>
              <a:rPr lang="en-US" sz="3400" b="1" dirty="0">
                <a:solidFill>
                  <a:srgbClr val="16181D"/>
                </a:solidFill>
                <a:latin typeface="Cambria" pitchFamily="34" charset="0"/>
                <a:ea typeface="Cambria" pitchFamily="34" charset="-122"/>
                <a:cs typeface="Cambria" pitchFamily="34" charset="-120"/>
              </a:rPr>
              <a:t>Cómo se decidió qué va primero</a:t>
            </a:r>
            <a:endParaRPr lang="en-US" sz="3400" dirty="0"/>
          </a:p>
        </p:txBody>
      </p:sp>
      <p:graphicFrame>
        <p:nvGraphicFramePr>
          <p:cNvPr id="4" name="Chart 0" descr=""/>
          <p:cNvGraphicFramePr/>
          <p:nvPr/>
        </p:nvGraphicFramePr>
        <p:xfrm>
          <a:off x="566928" y="2011680"/>
          <a:ext cx="475488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2148840"/>
            <a:ext cx="5852160" cy="1143000"/>
          </a:xfrm>
          <a:prstGeom prst="roundRect">
            <a:avLst>
              <a:gd name="adj" fmla="val 4800"/>
            </a:avLst>
          </a:prstGeom>
          <a:solidFill>
            <a:srgbClr val="FFFFFF"/>
          </a:solidFill>
          <a:ln w="12700">
            <a:solidFill>
              <a:srgbClr val="DDE4EE"/>
            </a:solidFill>
            <a:prstDash val="solid"/>
          </a:ln>
          <a:effectLst>
            <a:outerShdw sx="100000" sy="100000" kx="0" ky="0" algn="bl" rotWithShape="0" blurRad="101600" dist="25400" dir="5400000">
              <a:srgbClr val="000000">
                <a:alpha val="10000"/>
              </a:srgbClr>
            </a:outerShdw>
          </a:effectLst>
        </p:spPr>
      </p:sp>
      <p:sp>
        <p:nvSpPr>
          <p:cNvPr id="6" name="Text 3"/>
          <p:cNvSpPr/>
          <p:nvPr/>
        </p:nvSpPr>
        <p:spPr>
          <a:xfrm>
            <a:off x="6035040" y="2286000"/>
            <a:ext cx="539496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Gravedad</a:t>
            </a:r>
            <a:endParaRPr lang="en-US" sz="1500" dirty="0"/>
          </a:p>
        </p:txBody>
      </p:sp>
      <p:sp>
        <p:nvSpPr>
          <p:cNvPr id="7" name="Text 4"/>
          <p:cNvSpPr/>
          <p:nvPr/>
        </p:nvSpPr>
        <p:spPr>
          <a:xfrm>
            <a:off x="6035040" y="2624328"/>
            <a:ext cx="5394960" cy="594360"/>
          </a:xfrm>
          <a:prstGeom prst="rect">
            <a:avLst/>
          </a:prstGeom>
          <a:noFill/>
          <a:ln/>
        </p:spPr>
        <p:txBody>
          <a:bodyPr wrap="square" lIns="0" tIns="0" rIns="0" bIns="0" rtlCol="0" anchor="t"/>
          <a:lstStyle/>
          <a:p>
            <a:pPr indent="0" marL="0">
              <a:buNone/>
            </a:pPr>
            <a:r>
              <a:rPr lang="en-US" sz="1200" dirty="0">
                <a:solidFill>
                  <a:srgbClr val="16181D"/>
                </a:solidFill>
                <a:latin typeface="Calibri" pitchFamily="34" charset="0"/>
                <a:ea typeface="Calibri" pitchFamily="34" charset="-122"/>
                <a:cs typeface="Calibri" pitchFamily="34" charset="-120"/>
              </a:rPr>
              <a:t>Severidad del hallazgo y porcentaje de registros afectados</a:t>
            </a:r>
            <a:endParaRPr lang="en-US" sz="1200" dirty="0"/>
          </a:p>
        </p:txBody>
      </p:sp>
      <p:sp>
        <p:nvSpPr>
          <p:cNvPr id="8" name="Shape 5"/>
          <p:cNvSpPr/>
          <p:nvPr/>
        </p:nvSpPr>
        <p:spPr>
          <a:xfrm>
            <a:off x="5760720" y="3447288"/>
            <a:ext cx="5852160" cy="1143000"/>
          </a:xfrm>
          <a:prstGeom prst="roundRect">
            <a:avLst>
              <a:gd name="adj" fmla="val 4800"/>
            </a:avLst>
          </a:prstGeom>
          <a:solidFill>
            <a:srgbClr val="FFFFFF"/>
          </a:solidFill>
          <a:ln w="12700">
            <a:solidFill>
              <a:srgbClr val="DDE4EE"/>
            </a:solidFill>
            <a:prstDash val="solid"/>
          </a:ln>
          <a:effectLst>
            <a:outerShdw sx="100000" sy="100000" kx="0" ky="0" algn="bl" rotWithShape="0" blurRad="101600" dist="25400" dir="5400000">
              <a:srgbClr val="000000">
                <a:alpha val="10000"/>
              </a:srgbClr>
            </a:outerShdw>
          </a:effectLst>
        </p:spPr>
      </p:sp>
      <p:sp>
        <p:nvSpPr>
          <p:cNvPr id="9" name="Text 6"/>
          <p:cNvSpPr/>
          <p:nvPr/>
        </p:nvSpPr>
        <p:spPr>
          <a:xfrm>
            <a:off x="6035040" y="3584448"/>
            <a:ext cx="539496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Urgencia para el negocio</a:t>
            </a:r>
            <a:endParaRPr lang="en-US" sz="1500" dirty="0"/>
          </a:p>
        </p:txBody>
      </p:sp>
      <p:sp>
        <p:nvSpPr>
          <p:cNvPr id="10" name="Text 7"/>
          <p:cNvSpPr/>
          <p:nvPr/>
        </p:nvSpPr>
        <p:spPr>
          <a:xfrm>
            <a:off x="6035040" y="3922776"/>
            <a:ext cx="5394960" cy="594360"/>
          </a:xfrm>
          <a:prstGeom prst="rect">
            <a:avLst/>
          </a:prstGeom>
          <a:noFill/>
          <a:ln/>
        </p:spPr>
        <p:txBody>
          <a:bodyPr wrap="square" lIns="0" tIns="0" rIns="0" bIns="0" rtlCol="0" anchor="t"/>
          <a:lstStyle/>
          <a:p>
            <a:pPr indent="0" marL="0">
              <a:buNone/>
            </a:pPr>
            <a:r>
              <a:rPr lang="en-US" sz="1200" dirty="0">
                <a:solidFill>
                  <a:srgbClr val="16181D"/>
                </a:solidFill>
                <a:latin typeface="Calibri" pitchFamily="34" charset="0"/>
                <a:ea typeface="Calibri" pitchFamily="34" charset="-122"/>
                <a:cs typeface="Calibri" pitchFamily="34" charset="-120"/>
              </a:rPr>
              <a:t>Área que queda bloqueada mientras el problema persista</a:t>
            </a:r>
            <a:endParaRPr lang="en-US" sz="1200" dirty="0"/>
          </a:p>
        </p:txBody>
      </p:sp>
      <p:sp>
        <p:nvSpPr>
          <p:cNvPr id="11" name="Shape 8"/>
          <p:cNvSpPr/>
          <p:nvPr/>
        </p:nvSpPr>
        <p:spPr>
          <a:xfrm>
            <a:off x="5760720" y="4745736"/>
            <a:ext cx="5852160" cy="1143000"/>
          </a:xfrm>
          <a:prstGeom prst="roundRect">
            <a:avLst>
              <a:gd name="adj" fmla="val 4800"/>
            </a:avLst>
          </a:prstGeom>
          <a:solidFill>
            <a:srgbClr val="FFFFFF"/>
          </a:solidFill>
          <a:ln w="12700">
            <a:solidFill>
              <a:srgbClr val="DDE4EE"/>
            </a:solidFill>
            <a:prstDash val="solid"/>
          </a:ln>
          <a:effectLst>
            <a:outerShdw sx="100000" sy="100000" kx="0" ky="0" algn="bl" rotWithShape="0" blurRad="101600" dist="25400" dir="5400000">
              <a:srgbClr val="000000">
                <a:alpha val="10000"/>
              </a:srgbClr>
            </a:outerShdw>
          </a:effectLst>
        </p:spPr>
      </p:sp>
      <p:sp>
        <p:nvSpPr>
          <p:cNvPr id="12" name="Text 9"/>
          <p:cNvSpPr/>
          <p:nvPr/>
        </p:nvSpPr>
        <p:spPr>
          <a:xfrm>
            <a:off x="6035040" y="4882896"/>
            <a:ext cx="5394960" cy="320040"/>
          </a:xfrm>
          <a:prstGeom prst="rect">
            <a:avLst/>
          </a:prstGeom>
          <a:noFill/>
          <a:ln/>
        </p:spPr>
        <p:txBody>
          <a:bodyPr wrap="square" lIns="0" tIns="0" rIns="0" bIns="0" rtlCol="0" anchor="ctr"/>
          <a:lstStyle/>
          <a:p>
            <a:pPr indent="0" marL="0">
              <a:buNone/>
            </a:pPr>
            <a:r>
              <a:rPr lang="en-US" sz="1500" b="1" dirty="0">
                <a:solidFill>
                  <a:srgbClr val="C0392B"/>
                </a:solidFill>
                <a:latin typeface="Calibri" pitchFamily="34" charset="0"/>
                <a:ea typeface="Calibri" pitchFamily="34" charset="-122"/>
                <a:cs typeface="Calibri" pitchFamily="34" charset="-120"/>
              </a:rPr>
              <a:t>Dependencia</a:t>
            </a:r>
            <a:endParaRPr lang="en-US" sz="1500" dirty="0"/>
          </a:p>
        </p:txBody>
      </p:sp>
      <p:sp>
        <p:nvSpPr>
          <p:cNvPr id="13" name="Text 10"/>
          <p:cNvSpPr/>
          <p:nvPr/>
        </p:nvSpPr>
        <p:spPr>
          <a:xfrm>
            <a:off x="6035040" y="5221224"/>
            <a:ext cx="5394960" cy="594360"/>
          </a:xfrm>
          <a:prstGeom prst="rect">
            <a:avLst/>
          </a:prstGeom>
          <a:noFill/>
          <a:ln/>
        </p:spPr>
        <p:txBody>
          <a:bodyPr wrap="square" lIns="0" tIns="0" rIns="0" bIns="0" rtlCol="0" anchor="t"/>
          <a:lstStyle/>
          <a:p>
            <a:pPr indent="0" marL="0">
              <a:buNone/>
            </a:pPr>
            <a:r>
              <a:rPr lang="en-US" sz="1200" dirty="0">
                <a:solidFill>
                  <a:srgbClr val="16181D"/>
                </a:solidFill>
                <a:latin typeface="Calibri" pitchFamily="34" charset="0"/>
                <a:ea typeface="Calibri" pitchFamily="34" charset="-122"/>
                <a:cs typeface="Calibri" pitchFamily="34" charset="-120"/>
              </a:rPr>
              <a:t>Los 20.000 duplicados suben a prioridad alta pese a su severidad media, porque trabajar sobre un archivo duplicado distorsiona toda estadística posterior</a:t>
            </a:r>
            <a:endParaRPr lang="en-US" sz="1200" dirty="0"/>
          </a:p>
        </p:txBody>
      </p:sp>
      <p:sp>
        <p:nvSpPr>
          <p:cNvPr id="14" name="Text 11"/>
          <p:cNvSpPr/>
          <p:nvPr/>
        </p:nvSpPr>
        <p:spPr>
          <a:xfrm>
            <a:off x="566928" y="6181344"/>
            <a:ext cx="9509760" cy="292608"/>
          </a:xfrm>
          <a:prstGeom prst="rect">
            <a:avLst/>
          </a:prstGeom>
          <a:noFill/>
          <a:ln/>
        </p:spPr>
        <p:txBody>
          <a:bodyPr wrap="square" lIns="0" tIns="0" rIns="0" bIns="0" rtlCol="0" anchor="ctr"/>
          <a:lstStyle/>
          <a:p>
            <a:pPr indent="0" marL="0">
              <a:buNone/>
            </a:pPr>
            <a:r>
              <a:rPr lang="en-US" sz="1000" dirty="0">
                <a:solidFill>
                  <a:srgbClr val="6B7684"/>
                </a:solidFill>
                <a:latin typeface="Calibri" pitchFamily="34" charset="0"/>
                <a:ea typeface="Calibri" pitchFamily="34" charset="-122"/>
                <a:cs typeface="Calibri" pitchFamily="34" charset="-120"/>
              </a:rPr>
              <a:t>Dentro de un mismo nivel de prioridad, el desempate es el número de registros afectados</a:t>
            </a:r>
            <a:endParaRPr lang="en-US" sz="1000" dirty="0"/>
          </a:p>
        </p:txBody>
      </p:sp>
      <p:sp>
        <p:nvSpPr>
          <p:cNvPr id="15" name="Text 12"/>
          <p:cNvSpPr/>
          <p:nvPr/>
        </p:nvSpPr>
        <p:spPr>
          <a:xfrm>
            <a:off x="10820095" y="6181344"/>
            <a:ext cx="822960" cy="292608"/>
          </a:xfrm>
          <a:prstGeom prst="rect">
            <a:avLst/>
          </a:prstGeom>
          <a:noFill/>
          <a:ln/>
        </p:spPr>
        <p:txBody>
          <a:bodyPr wrap="square" lIns="0" tIns="0" rIns="0" bIns="0" rtlCol="0" anchor="ctr"/>
          <a:lstStyle/>
          <a:p>
            <a:pPr algn="r" indent="0" marL="0">
              <a:buNone/>
            </a:pPr>
            <a:r>
              <a:rPr lang="en-US" sz="1000" dirty="0">
                <a:solidFill>
                  <a:srgbClr val="6B7684"/>
                </a:solidFill>
                <a:latin typeface="Calibri" pitchFamily="34" charset="0"/>
                <a:ea typeface="Calibri" pitchFamily="34" charset="-122"/>
                <a:cs typeface="Calibri" pitchFamily="34" charset="-120"/>
              </a:rPr>
              <a:t>14 / 19</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493776"/>
            <a:ext cx="8229600" cy="256032"/>
          </a:xfrm>
          <a:prstGeom prst="rect">
            <a:avLst/>
          </a:prstGeom>
          <a:noFill/>
          <a:ln/>
        </p:spPr>
        <p:txBody>
          <a:bodyPr wrap="square" lIns="0" tIns="0" rIns="0" bIns="0" rtlCol="0" anchor="ctr"/>
          <a:lstStyle/>
          <a:p>
            <a:pPr indent="0" marL="0">
              <a:buNone/>
            </a:pPr>
            <a:r>
              <a:rPr lang="en-US" sz="1100" b="1" spc="220" kern="0" dirty="0">
                <a:solidFill>
                  <a:srgbClr val="1E2761"/>
                </a:solidFill>
                <a:latin typeface="Calibri" pitchFamily="34" charset="0"/>
                <a:ea typeface="Calibri" pitchFamily="34" charset="-122"/>
                <a:cs typeface="Calibri" pitchFamily="34" charset="-120"/>
              </a:rPr>
              <a:t>LA RUTA</a:t>
            </a:r>
            <a:endParaRPr lang="en-US" sz="1100" dirty="0"/>
          </a:p>
        </p:txBody>
      </p:sp>
      <p:sp>
        <p:nvSpPr>
          <p:cNvPr id="3" name="Text 1"/>
          <p:cNvSpPr/>
          <p:nvPr/>
        </p:nvSpPr>
        <p:spPr>
          <a:xfrm>
            <a:off x="566928" y="786384"/>
            <a:ext cx="10424160" cy="749808"/>
          </a:xfrm>
          <a:prstGeom prst="rect">
            <a:avLst/>
          </a:prstGeom>
          <a:noFill/>
          <a:ln/>
        </p:spPr>
        <p:txBody>
          <a:bodyPr wrap="square" lIns="0" tIns="0" rIns="0" bIns="0" rtlCol="0" anchor="ctr"/>
          <a:lstStyle/>
          <a:p>
            <a:pPr indent="0" marL="0">
              <a:buNone/>
            </a:pPr>
            <a:r>
              <a:rPr lang="en-US" sz="3400" b="1" dirty="0">
                <a:solidFill>
                  <a:srgbClr val="16181D"/>
                </a:solidFill>
                <a:latin typeface="Cambria" pitchFamily="34" charset="0"/>
                <a:ea typeface="Cambria" pitchFamily="34" charset="-122"/>
                <a:cs typeface="Cambria" pitchFamily="34" charset="-120"/>
              </a:rPr>
              <a:t>Cuándo se resuelve cada problema</a:t>
            </a:r>
            <a:endParaRPr lang="en-US" sz="3400" dirty="0"/>
          </a:p>
        </p:txBody>
      </p:sp>
      <p:graphicFrame>
        <p:nvGraphicFramePr>
          <p:cNvPr id="4" name="Chart 0" descr=""/>
          <p:cNvGraphicFramePr/>
          <p:nvPr/>
        </p:nvGraphicFramePr>
        <p:xfrm>
          <a:off x="566928" y="2057400"/>
          <a:ext cx="11064240" cy="3017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66928" y="5257800"/>
            <a:ext cx="11064240" cy="868680"/>
          </a:xfrm>
          <a:prstGeom prst="roundRect">
            <a:avLst>
              <a:gd name="adj" fmla="val 6316"/>
            </a:avLst>
          </a:prstGeom>
          <a:solidFill>
            <a:srgbClr val="E8F0FC"/>
          </a:solidFill>
          <a:ln w="12700">
            <a:solidFill>
              <a:srgbClr val="DDE4EE"/>
            </a:solidFill>
            <a:prstDash val="solid"/>
          </a:ln>
        </p:spPr>
      </p:sp>
      <p:sp>
        <p:nvSpPr>
          <p:cNvPr id="6" name="Text 3"/>
          <p:cNvSpPr/>
          <p:nvPr/>
        </p:nvSpPr>
        <p:spPr>
          <a:xfrm>
            <a:off x="804672" y="5394960"/>
            <a:ext cx="10607040" cy="64008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Por qué las Semanas 8 y 9 quedan en cero:  </a:t>
            </a:r>
            <a:pPr indent="0" marL="0">
              <a:buNone/>
            </a:pPr>
            <a:r>
              <a:rPr lang="en-US" sz="1300" dirty="0">
                <a:solidFill>
                  <a:srgbClr val="16181D"/>
                </a:solidFill>
                <a:latin typeface="Calibri" pitchFamily="34" charset="0"/>
                <a:ea typeface="Calibri" pitchFamily="34" charset="-122"/>
                <a:cs typeface="Calibri" pitchFamily="34" charset="-120"/>
              </a:rPr>
              <a:t>el escalado y la codificación no corrigen defectos, preparan para el modelado variables que ya deben estar saneadas. Preferimos decirlo que repartir filas para que ninguna semana quede vacía.</a:t>
            </a:r>
            <a:endParaRPr lang="en-US" sz="1300" dirty="0"/>
          </a:p>
        </p:txBody>
      </p:sp>
      <p:sp>
        <p:nvSpPr>
          <p:cNvPr id="7" name="Text 4"/>
          <p:cNvSpPr/>
          <p:nvPr/>
        </p:nvSpPr>
        <p:spPr>
          <a:xfrm>
            <a:off x="10820095" y="6181344"/>
            <a:ext cx="822960" cy="292608"/>
          </a:xfrm>
          <a:prstGeom prst="rect">
            <a:avLst/>
          </a:prstGeom>
          <a:noFill/>
          <a:ln/>
        </p:spPr>
        <p:txBody>
          <a:bodyPr wrap="square" lIns="0" tIns="0" rIns="0" bIns="0" rtlCol="0" anchor="ctr"/>
          <a:lstStyle/>
          <a:p>
            <a:pPr algn="r" indent="0" marL="0">
              <a:buNone/>
            </a:pPr>
            <a:r>
              <a:rPr lang="en-US" sz="1000" dirty="0">
                <a:solidFill>
                  <a:srgbClr val="6B7684"/>
                </a:solidFill>
                <a:latin typeface="Calibri" pitchFamily="34" charset="0"/>
                <a:ea typeface="Calibri" pitchFamily="34" charset="-122"/>
                <a:cs typeface="Calibri" pitchFamily="34" charset="-120"/>
              </a:rPr>
              <a:t>15 / 19</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493776"/>
            <a:ext cx="8229600" cy="256032"/>
          </a:xfrm>
          <a:prstGeom prst="rect">
            <a:avLst/>
          </a:prstGeom>
          <a:noFill/>
          <a:ln/>
        </p:spPr>
        <p:txBody>
          <a:bodyPr wrap="square" lIns="0" tIns="0" rIns="0" bIns="0" rtlCol="0" anchor="ctr"/>
          <a:lstStyle/>
          <a:p>
            <a:pPr indent="0" marL="0">
              <a:buNone/>
            </a:pPr>
            <a:r>
              <a:rPr lang="en-US" sz="1100" b="1" spc="220" kern="0" dirty="0">
                <a:solidFill>
                  <a:srgbClr val="1E2761"/>
                </a:solidFill>
                <a:latin typeface="Calibri" pitchFamily="34" charset="0"/>
                <a:ea typeface="Calibri" pitchFamily="34" charset="-122"/>
                <a:cs typeface="Calibri" pitchFamily="34" charset="-120"/>
              </a:rPr>
              <a:t>LOS LÍMITES</a:t>
            </a:r>
            <a:endParaRPr lang="en-US" sz="1100" dirty="0"/>
          </a:p>
        </p:txBody>
      </p:sp>
      <p:sp>
        <p:nvSpPr>
          <p:cNvPr id="3" name="Text 1"/>
          <p:cNvSpPr/>
          <p:nvPr/>
        </p:nvSpPr>
        <p:spPr>
          <a:xfrm>
            <a:off x="566928" y="786384"/>
            <a:ext cx="10424160" cy="749808"/>
          </a:xfrm>
          <a:prstGeom prst="rect">
            <a:avLst/>
          </a:prstGeom>
          <a:noFill/>
          <a:ln/>
        </p:spPr>
        <p:txBody>
          <a:bodyPr wrap="square" lIns="0" tIns="0" rIns="0" bIns="0" rtlCol="0" anchor="ctr"/>
          <a:lstStyle/>
          <a:p>
            <a:pPr indent="0" marL="0">
              <a:buNone/>
            </a:pPr>
            <a:r>
              <a:rPr lang="en-US" sz="3400" b="1" dirty="0">
                <a:solidFill>
                  <a:srgbClr val="16181D"/>
                </a:solidFill>
                <a:latin typeface="Cambria" pitchFamily="34" charset="0"/>
                <a:ea typeface="Cambria" pitchFamily="34" charset="-122"/>
                <a:cs typeface="Cambria" pitchFamily="34" charset="-120"/>
              </a:rPr>
              <a:t>Cuatro situaciones que no se resuelven</a:t>
            </a:r>
            <a:endParaRPr lang="en-US" sz="3400" dirty="0"/>
          </a:p>
        </p:txBody>
      </p:sp>
      <p:sp>
        <p:nvSpPr>
          <p:cNvPr id="4" name="Text 2"/>
          <p:cNvSpPr/>
          <p:nvPr/>
        </p:nvSpPr>
        <p:spPr>
          <a:xfrm>
            <a:off x="566928" y="1554480"/>
            <a:ext cx="10424160" cy="365760"/>
          </a:xfrm>
          <a:prstGeom prst="rect">
            <a:avLst/>
          </a:prstGeom>
          <a:noFill/>
          <a:ln/>
        </p:spPr>
        <p:txBody>
          <a:bodyPr wrap="square" lIns="0" tIns="0" rIns="0" bIns="0" rtlCol="0" anchor="t"/>
          <a:lstStyle/>
          <a:p>
            <a:pPr indent="0" marL="0">
              <a:buNone/>
            </a:pPr>
            <a:r>
              <a:rPr lang="en-US" sz="1400" dirty="0">
                <a:solidFill>
                  <a:srgbClr val="6B7684"/>
                </a:solidFill>
                <a:latin typeface="Calibri" pitchFamily="34" charset="0"/>
                <a:ea typeface="Calibri" pitchFamily="34" charset="-122"/>
                <a:cs typeface="Calibri" pitchFamily="34" charset="-120"/>
              </a:rPr>
              <a:t>Marcar es más honesto que estimar. Imputar aquí sería fabricar información que no existe.</a:t>
            </a:r>
            <a:endParaRPr lang="en-US" sz="1400" dirty="0"/>
          </a:p>
        </p:txBody>
      </p:sp>
      <p:sp>
        <p:nvSpPr>
          <p:cNvPr id="5" name="Shape 3"/>
          <p:cNvSpPr/>
          <p:nvPr/>
        </p:nvSpPr>
        <p:spPr>
          <a:xfrm>
            <a:off x="566928" y="2331720"/>
            <a:ext cx="2606040" cy="2743200"/>
          </a:xfrm>
          <a:prstGeom prst="roundRect">
            <a:avLst>
              <a:gd name="adj" fmla="val 2105"/>
            </a:avLst>
          </a:prstGeom>
          <a:solidFill>
            <a:srgbClr val="FFFFFF"/>
          </a:solidFill>
          <a:ln w="12700">
            <a:solidFill>
              <a:srgbClr val="E9C6C1"/>
            </a:solidFill>
            <a:prstDash val="solid"/>
          </a:ln>
          <a:effectLst>
            <a:outerShdw sx="100000" sy="100000" kx="0" ky="0" algn="bl" rotWithShape="0" blurRad="101600" dist="25400" dir="5400000">
              <a:srgbClr val="000000">
                <a:alpha val="10000"/>
              </a:srgbClr>
            </a:outerShdw>
          </a:effectLst>
        </p:spPr>
      </p:sp>
      <p:sp>
        <p:nvSpPr>
          <p:cNvPr id="6" name="Shape 4"/>
          <p:cNvSpPr/>
          <p:nvPr/>
        </p:nvSpPr>
        <p:spPr>
          <a:xfrm>
            <a:off x="822960" y="2578608"/>
            <a:ext cx="384048" cy="384048"/>
          </a:xfrm>
          <a:prstGeom prst="ellipse">
            <a:avLst/>
          </a:prstGeom>
          <a:solidFill>
            <a:srgbClr val="C0392B"/>
          </a:solidFill>
          <a:ln w="12700">
            <a:solidFill>
              <a:srgbClr val="C0392B"/>
            </a:solidFill>
            <a:prstDash val="solid"/>
          </a:ln>
        </p:spPr>
      </p:sp>
      <p:sp>
        <p:nvSpPr>
          <p:cNvPr id="7" name="Text 5"/>
          <p:cNvSpPr/>
          <p:nvPr/>
        </p:nvSpPr>
        <p:spPr>
          <a:xfrm>
            <a:off x="822960" y="25786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22960" y="3108960"/>
            <a:ext cx="2148840" cy="320040"/>
          </a:xfrm>
          <a:prstGeom prst="rect">
            <a:avLst/>
          </a:prstGeom>
          <a:noFill/>
          <a:ln/>
        </p:spPr>
        <p:txBody>
          <a:bodyPr wrap="square" lIns="0" tIns="0" rIns="0" bIns="0" rtlCol="0" anchor="ctr"/>
          <a:lstStyle/>
          <a:p>
            <a:pPr indent="0" marL="0">
              <a:buNone/>
            </a:pPr>
            <a:r>
              <a:rPr lang="en-US" sz="1400" b="1" dirty="0">
                <a:solidFill>
                  <a:srgbClr val="16181D"/>
                </a:solidFill>
                <a:latin typeface="Courier New" pitchFamily="34" charset="0"/>
                <a:ea typeface="Courier New" pitchFamily="34" charset="-122"/>
                <a:cs typeface="Courier New" pitchFamily="34" charset="-120"/>
              </a:rPr>
              <a:t>edad_cliente</a:t>
            </a:r>
            <a:endParaRPr lang="en-US" sz="1400" dirty="0"/>
          </a:p>
        </p:txBody>
      </p:sp>
      <p:sp>
        <p:nvSpPr>
          <p:cNvPr id="9" name="Text 7"/>
          <p:cNvSpPr/>
          <p:nvPr/>
        </p:nvSpPr>
        <p:spPr>
          <a:xfrm>
            <a:off x="822960" y="3456432"/>
            <a:ext cx="2148840" cy="411480"/>
          </a:xfrm>
          <a:prstGeom prst="rect">
            <a:avLst/>
          </a:prstGeom>
          <a:noFill/>
          <a:ln/>
        </p:spPr>
        <p:txBody>
          <a:bodyPr wrap="square" lIns="0" tIns="0" rIns="0" bIns="0" rtlCol="0" anchor="ctr"/>
          <a:lstStyle/>
          <a:p>
            <a:pPr indent="0" marL="0">
              <a:buNone/>
            </a:pPr>
            <a:r>
              <a:rPr lang="en-US" sz="1900" b="1" dirty="0">
                <a:solidFill>
                  <a:srgbClr val="C0392B"/>
                </a:solidFill>
                <a:latin typeface="Calibri" pitchFamily="34" charset="0"/>
                <a:ea typeface="Calibri" pitchFamily="34" charset="-122"/>
                <a:cs typeface="Calibri" pitchFamily="34" charset="-120"/>
              </a:rPr>
              <a:t>622.458</a:t>
            </a:r>
            <a:endParaRPr lang="en-US" sz="1900" dirty="0"/>
          </a:p>
        </p:txBody>
      </p:sp>
      <p:sp>
        <p:nvSpPr>
          <p:cNvPr id="10" name="Text 8"/>
          <p:cNvSpPr/>
          <p:nvPr/>
        </p:nvSpPr>
        <p:spPr>
          <a:xfrm>
            <a:off x="822960" y="3931920"/>
            <a:ext cx="2148840" cy="1005840"/>
          </a:xfrm>
          <a:prstGeom prst="rect">
            <a:avLst/>
          </a:prstGeom>
          <a:noFill/>
          <a:ln/>
        </p:spPr>
        <p:txBody>
          <a:bodyPr wrap="square" lIns="0" tIns="0" rIns="0" bIns="0" rtlCol="0" anchor="t"/>
          <a:lstStyle/>
          <a:p>
            <a:pPr indent="0" marL="0">
              <a:buNone/>
            </a:pPr>
            <a:r>
              <a:rPr lang="en-US" sz="1100" dirty="0">
                <a:solidFill>
                  <a:srgbClr val="6B7684"/>
                </a:solidFill>
                <a:latin typeface="Calibri" pitchFamily="34" charset="0"/>
                <a:ea typeface="Calibri" pitchFamily="34" charset="-122"/>
                <a:cs typeface="Calibri" pitchFamily="34" charset="-120"/>
              </a:rPr>
              <a:t>Incoherente dentro del mismo cliente. Se excluye del análisis demográfico.</a:t>
            </a:r>
            <a:endParaRPr lang="en-US" sz="1100" dirty="0"/>
          </a:p>
        </p:txBody>
      </p:sp>
      <p:sp>
        <p:nvSpPr>
          <p:cNvPr id="11" name="Shape 9"/>
          <p:cNvSpPr/>
          <p:nvPr/>
        </p:nvSpPr>
        <p:spPr>
          <a:xfrm>
            <a:off x="3401568" y="2331720"/>
            <a:ext cx="2606040" cy="2743200"/>
          </a:xfrm>
          <a:prstGeom prst="roundRect">
            <a:avLst>
              <a:gd name="adj" fmla="val 2105"/>
            </a:avLst>
          </a:prstGeom>
          <a:solidFill>
            <a:srgbClr val="FFFFFF"/>
          </a:solidFill>
          <a:ln w="12700">
            <a:solidFill>
              <a:srgbClr val="E9C6C1"/>
            </a:solidFill>
            <a:prstDash val="solid"/>
          </a:ln>
          <a:effectLst>
            <a:outerShdw sx="100000" sy="100000" kx="0" ky="0" algn="bl" rotWithShape="0" blurRad="101600" dist="25400" dir="5400000">
              <a:srgbClr val="000000">
                <a:alpha val="10000"/>
              </a:srgbClr>
            </a:outerShdw>
          </a:effectLst>
        </p:spPr>
      </p:sp>
      <p:sp>
        <p:nvSpPr>
          <p:cNvPr id="12" name="Shape 10"/>
          <p:cNvSpPr/>
          <p:nvPr/>
        </p:nvSpPr>
        <p:spPr>
          <a:xfrm>
            <a:off x="3657600" y="2578608"/>
            <a:ext cx="384048" cy="384048"/>
          </a:xfrm>
          <a:prstGeom prst="ellipse">
            <a:avLst/>
          </a:prstGeom>
          <a:solidFill>
            <a:srgbClr val="C0392B"/>
          </a:solidFill>
          <a:ln w="12700">
            <a:solidFill>
              <a:srgbClr val="C0392B"/>
            </a:solidFill>
            <a:prstDash val="solid"/>
          </a:ln>
        </p:spPr>
      </p:sp>
      <p:sp>
        <p:nvSpPr>
          <p:cNvPr id="13" name="Text 11"/>
          <p:cNvSpPr/>
          <p:nvPr/>
        </p:nvSpPr>
        <p:spPr>
          <a:xfrm>
            <a:off x="3657600" y="25786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3657600" y="3108960"/>
            <a:ext cx="2148840" cy="320040"/>
          </a:xfrm>
          <a:prstGeom prst="rect">
            <a:avLst/>
          </a:prstGeom>
          <a:noFill/>
          <a:ln/>
        </p:spPr>
        <p:txBody>
          <a:bodyPr wrap="square" lIns="0" tIns="0" rIns="0" bIns="0" rtlCol="0" anchor="ctr"/>
          <a:lstStyle/>
          <a:p>
            <a:pPr indent="0" marL="0">
              <a:buNone/>
            </a:pPr>
            <a:r>
              <a:rPr lang="en-US" sz="1400" b="1" dirty="0">
                <a:solidFill>
                  <a:srgbClr val="16181D"/>
                </a:solidFill>
                <a:latin typeface="Courier New" pitchFamily="34" charset="0"/>
                <a:ea typeface="Courier New" pitchFamily="34" charset="-122"/>
                <a:cs typeface="Courier New" pitchFamily="34" charset="-120"/>
              </a:rPr>
              <a:t>correo_cliente</a:t>
            </a:r>
            <a:endParaRPr lang="en-US" sz="1400" dirty="0"/>
          </a:p>
        </p:txBody>
      </p:sp>
      <p:sp>
        <p:nvSpPr>
          <p:cNvPr id="15" name="Text 13"/>
          <p:cNvSpPr/>
          <p:nvPr/>
        </p:nvSpPr>
        <p:spPr>
          <a:xfrm>
            <a:off x="3657600" y="3456432"/>
            <a:ext cx="2148840" cy="411480"/>
          </a:xfrm>
          <a:prstGeom prst="rect">
            <a:avLst/>
          </a:prstGeom>
          <a:noFill/>
          <a:ln/>
        </p:spPr>
        <p:txBody>
          <a:bodyPr wrap="square" lIns="0" tIns="0" rIns="0" bIns="0" rtlCol="0" anchor="ctr"/>
          <a:lstStyle/>
          <a:p>
            <a:pPr indent="0" marL="0">
              <a:buNone/>
            </a:pPr>
            <a:r>
              <a:rPr lang="en-US" sz="1900" b="1" dirty="0">
                <a:solidFill>
                  <a:srgbClr val="C0392B"/>
                </a:solidFill>
                <a:latin typeface="Calibri" pitchFamily="34" charset="0"/>
                <a:ea typeface="Calibri" pitchFamily="34" charset="-122"/>
                <a:cs typeface="Calibri" pitchFamily="34" charset="-120"/>
              </a:rPr>
              <a:t>534.688</a:t>
            </a:r>
            <a:endParaRPr lang="en-US" sz="1900" dirty="0"/>
          </a:p>
        </p:txBody>
      </p:sp>
      <p:sp>
        <p:nvSpPr>
          <p:cNvPr id="16" name="Text 14"/>
          <p:cNvSpPr/>
          <p:nvPr/>
        </p:nvSpPr>
        <p:spPr>
          <a:xfrm>
            <a:off x="3657600" y="3931920"/>
            <a:ext cx="2148840" cy="1005840"/>
          </a:xfrm>
          <a:prstGeom prst="rect">
            <a:avLst/>
          </a:prstGeom>
          <a:noFill/>
          <a:ln/>
        </p:spPr>
        <p:txBody>
          <a:bodyPr wrap="square" lIns="0" tIns="0" rIns="0" bIns="0" rtlCol="0" anchor="t"/>
          <a:lstStyle/>
          <a:p>
            <a:pPr indent="0" marL="0">
              <a:buNone/>
            </a:pPr>
            <a:r>
              <a:rPr lang="en-US" sz="1100" dirty="0">
                <a:solidFill>
                  <a:srgbClr val="6B7684"/>
                </a:solidFill>
                <a:latin typeface="Calibri" pitchFamily="34" charset="0"/>
                <a:ea typeface="Calibri" pitchFamily="34" charset="-122"/>
                <a:cs typeface="Calibri" pitchFamily="34" charset="-120"/>
              </a:rPr>
              <a:t>Identifica la transacción y no a la persona. No hay base de contacto.</a:t>
            </a:r>
            <a:endParaRPr lang="en-US" sz="1100" dirty="0"/>
          </a:p>
        </p:txBody>
      </p:sp>
      <p:sp>
        <p:nvSpPr>
          <p:cNvPr id="17" name="Shape 15"/>
          <p:cNvSpPr/>
          <p:nvPr/>
        </p:nvSpPr>
        <p:spPr>
          <a:xfrm>
            <a:off x="6236208" y="2331720"/>
            <a:ext cx="2606040" cy="2743200"/>
          </a:xfrm>
          <a:prstGeom prst="roundRect">
            <a:avLst>
              <a:gd name="adj" fmla="val 2105"/>
            </a:avLst>
          </a:prstGeom>
          <a:solidFill>
            <a:srgbClr val="FFFFFF"/>
          </a:solidFill>
          <a:ln w="12700">
            <a:solidFill>
              <a:srgbClr val="E9C6C1"/>
            </a:solidFill>
            <a:prstDash val="solid"/>
          </a:ln>
          <a:effectLst>
            <a:outerShdw sx="100000" sy="100000" kx="0" ky="0" algn="bl" rotWithShape="0" blurRad="101600" dist="25400" dir="5400000">
              <a:srgbClr val="000000">
                <a:alpha val="10000"/>
              </a:srgbClr>
            </a:outerShdw>
          </a:effectLst>
        </p:spPr>
      </p:sp>
      <p:sp>
        <p:nvSpPr>
          <p:cNvPr id="18" name="Shape 16"/>
          <p:cNvSpPr/>
          <p:nvPr/>
        </p:nvSpPr>
        <p:spPr>
          <a:xfrm>
            <a:off x="6492240" y="2578608"/>
            <a:ext cx="384048" cy="384048"/>
          </a:xfrm>
          <a:prstGeom prst="ellipse">
            <a:avLst/>
          </a:prstGeom>
          <a:solidFill>
            <a:srgbClr val="C0392B"/>
          </a:solidFill>
          <a:ln w="12700">
            <a:solidFill>
              <a:srgbClr val="C0392B"/>
            </a:solidFill>
            <a:prstDash val="solid"/>
          </a:ln>
        </p:spPr>
      </p:sp>
      <p:sp>
        <p:nvSpPr>
          <p:cNvPr id="19" name="Text 17"/>
          <p:cNvSpPr/>
          <p:nvPr/>
        </p:nvSpPr>
        <p:spPr>
          <a:xfrm>
            <a:off x="6492240" y="25786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6492240" y="3108960"/>
            <a:ext cx="2148840" cy="320040"/>
          </a:xfrm>
          <a:prstGeom prst="rect">
            <a:avLst/>
          </a:prstGeom>
          <a:noFill/>
          <a:ln/>
        </p:spPr>
        <p:txBody>
          <a:bodyPr wrap="square" lIns="0" tIns="0" rIns="0" bIns="0" rtlCol="0" anchor="ctr"/>
          <a:lstStyle/>
          <a:p>
            <a:pPr indent="0" marL="0">
              <a:buNone/>
            </a:pPr>
            <a:r>
              <a:rPr lang="en-US" sz="1400" b="1" dirty="0">
                <a:solidFill>
                  <a:srgbClr val="16181D"/>
                </a:solidFill>
                <a:latin typeface="Courier New" pitchFamily="34" charset="0"/>
                <a:ea typeface="Courier New" pitchFamily="34" charset="-122"/>
                <a:cs typeface="Courier New" pitchFamily="34" charset="-120"/>
              </a:rPr>
              <a:t>fuga_cliente</a:t>
            </a:r>
            <a:endParaRPr lang="en-US" sz="1400" dirty="0"/>
          </a:p>
        </p:txBody>
      </p:sp>
      <p:sp>
        <p:nvSpPr>
          <p:cNvPr id="21" name="Text 19"/>
          <p:cNvSpPr/>
          <p:nvPr/>
        </p:nvSpPr>
        <p:spPr>
          <a:xfrm>
            <a:off x="6492240" y="3456432"/>
            <a:ext cx="2148840" cy="411480"/>
          </a:xfrm>
          <a:prstGeom prst="rect">
            <a:avLst/>
          </a:prstGeom>
          <a:noFill/>
          <a:ln/>
        </p:spPr>
        <p:txBody>
          <a:bodyPr wrap="square" lIns="0" tIns="0" rIns="0" bIns="0" rtlCol="0" anchor="ctr"/>
          <a:lstStyle/>
          <a:p>
            <a:pPr indent="0" marL="0">
              <a:buNone/>
            </a:pPr>
            <a:r>
              <a:rPr lang="en-US" sz="1900" b="1" dirty="0">
                <a:solidFill>
                  <a:srgbClr val="C0392B"/>
                </a:solidFill>
                <a:latin typeface="Calibri" pitchFamily="34" charset="0"/>
                <a:ea typeface="Calibri" pitchFamily="34" charset="-122"/>
                <a:cs typeface="Calibri" pitchFamily="34" charset="-120"/>
              </a:rPr>
              <a:t>259.564</a:t>
            </a:r>
            <a:endParaRPr lang="en-US" sz="1900" dirty="0"/>
          </a:p>
        </p:txBody>
      </p:sp>
      <p:sp>
        <p:nvSpPr>
          <p:cNvPr id="22" name="Text 20"/>
          <p:cNvSpPr/>
          <p:nvPr/>
        </p:nvSpPr>
        <p:spPr>
          <a:xfrm>
            <a:off x="6492240" y="3931920"/>
            <a:ext cx="2148840" cy="1005840"/>
          </a:xfrm>
          <a:prstGeom prst="rect">
            <a:avLst/>
          </a:prstGeom>
          <a:noFill/>
          <a:ln/>
        </p:spPr>
        <p:txBody>
          <a:bodyPr wrap="square" lIns="0" tIns="0" rIns="0" bIns="0" rtlCol="0" anchor="t"/>
          <a:lstStyle/>
          <a:p>
            <a:pPr indent="0" marL="0">
              <a:buNone/>
            </a:pPr>
            <a:r>
              <a:rPr lang="en-US" sz="1100" dirty="0">
                <a:solidFill>
                  <a:srgbClr val="6B7684"/>
                </a:solidFill>
                <a:latin typeface="Calibri" pitchFamily="34" charset="0"/>
                <a:ea typeface="Calibri" pitchFamily="34" charset="-122"/>
                <a:cs typeface="Calibri" pitchFamily="34" charset="-120"/>
              </a:rPr>
              <a:t>La etiqueta alterna hasta ocho veces en el mismo cliente.</a:t>
            </a:r>
            <a:endParaRPr lang="en-US" sz="1100" dirty="0"/>
          </a:p>
        </p:txBody>
      </p:sp>
      <p:sp>
        <p:nvSpPr>
          <p:cNvPr id="23" name="Shape 21"/>
          <p:cNvSpPr/>
          <p:nvPr/>
        </p:nvSpPr>
        <p:spPr>
          <a:xfrm>
            <a:off x="9070848" y="2331720"/>
            <a:ext cx="2606040" cy="2743200"/>
          </a:xfrm>
          <a:prstGeom prst="roundRect">
            <a:avLst>
              <a:gd name="adj" fmla="val 2105"/>
            </a:avLst>
          </a:prstGeom>
          <a:solidFill>
            <a:srgbClr val="FFFFFF"/>
          </a:solidFill>
          <a:ln w="12700">
            <a:solidFill>
              <a:srgbClr val="E9C6C1"/>
            </a:solidFill>
            <a:prstDash val="solid"/>
          </a:ln>
          <a:effectLst>
            <a:outerShdw sx="100000" sy="100000" kx="0" ky="0" algn="bl" rotWithShape="0" blurRad="101600" dist="25400" dir="5400000">
              <a:srgbClr val="000000">
                <a:alpha val="10000"/>
              </a:srgbClr>
            </a:outerShdw>
          </a:effectLst>
        </p:spPr>
      </p:sp>
      <p:sp>
        <p:nvSpPr>
          <p:cNvPr id="24" name="Shape 22"/>
          <p:cNvSpPr/>
          <p:nvPr/>
        </p:nvSpPr>
        <p:spPr>
          <a:xfrm>
            <a:off x="9326880" y="2578608"/>
            <a:ext cx="384048" cy="384048"/>
          </a:xfrm>
          <a:prstGeom prst="ellipse">
            <a:avLst/>
          </a:prstGeom>
          <a:solidFill>
            <a:srgbClr val="C0392B"/>
          </a:solidFill>
          <a:ln w="12700">
            <a:solidFill>
              <a:srgbClr val="C0392B"/>
            </a:solidFill>
            <a:prstDash val="solid"/>
          </a:ln>
        </p:spPr>
      </p:sp>
      <p:sp>
        <p:nvSpPr>
          <p:cNvPr id="25" name="Text 23"/>
          <p:cNvSpPr/>
          <p:nvPr/>
        </p:nvSpPr>
        <p:spPr>
          <a:xfrm>
            <a:off x="9326880" y="25786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p:nvPr/>
        </p:nvSpPr>
        <p:spPr>
          <a:xfrm>
            <a:off x="9326880" y="3108960"/>
            <a:ext cx="2148840" cy="320040"/>
          </a:xfrm>
          <a:prstGeom prst="rect">
            <a:avLst/>
          </a:prstGeom>
          <a:noFill/>
          <a:ln/>
        </p:spPr>
        <p:txBody>
          <a:bodyPr wrap="square" lIns="0" tIns="0" rIns="0" bIns="0" rtlCol="0" anchor="ctr"/>
          <a:lstStyle/>
          <a:p>
            <a:pPr indent="0" marL="0">
              <a:buNone/>
            </a:pPr>
            <a:r>
              <a:rPr lang="en-US" sz="1400" b="1" dirty="0">
                <a:solidFill>
                  <a:srgbClr val="16181D"/>
                </a:solidFill>
                <a:latin typeface="Courier New" pitchFamily="34" charset="0"/>
                <a:ea typeface="Courier New" pitchFamily="34" charset="-122"/>
                <a:cs typeface="Courier New" pitchFamily="34" charset="-120"/>
              </a:rPr>
              <a:t>stock 2025</a:t>
            </a:r>
            <a:endParaRPr lang="en-US" sz="1400" dirty="0"/>
          </a:p>
        </p:txBody>
      </p:sp>
      <p:sp>
        <p:nvSpPr>
          <p:cNvPr id="27" name="Text 25"/>
          <p:cNvSpPr/>
          <p:nvPr/>
        </p:nvSpPr>
        <p:spPr>
          <a:xfrm>
            <a:off x="9326880" y="3456432"/>
            <a:ext cx="2148840" cy="411480"/>
          </a:xfrm>
          <a:prstGeom prst="rect">
            <a:avLst/>
          </a:prstGeom>
          <a:noFill/>
          <a:ln/>
        </p:spPr>
        <p:txBody>
          <a:bodyPr wrap="square" lIns="0" tIns="0" rIns="0" bIns="0" rtlCol="0" anchor="ctr"/>
          <a:lstStyle/>
          <a:p>
            <a:pPr indent="0" marL="0">
              <a:buNone/>
            </a:pPr>
            <a:r>
              <a:rPr lang="en-US" sz="1900" b="1" dirty="0">
                <a:solidFill>
                  <a:srgbClr val="C0392B"/>
                </a:solidFill>
                <a:latin typeface="Calibri" pitchFamily="34" charset="0"/>
                <a:ea typeface="Calibri" pitchFamily="34" charset="-122"/>
                <a:cs typeface="Calibri" pitchFamily="34" charset="-120"/>
              </a:rPr>
              <a:t>sin datos</a:t>
            </a:r>
            <a:endParaRPr lang="en-US" sz="1900" dirty="0"/>
          </a:p>
        </p:txBody>
      </p:sp>
      <p:sp>
        <p:nvSpPr>
          <p:cNvPr id="28" name="Text 26"/>
          <p:cNvSpPr/>
          <p:nvPr/>
        </p:nvSpPr>
        <p:spPr>
          <a:xfrm>
            <a:off x="9326880" y="3931920"/>
            <a:ext cx="2148840" cy="1005840"/>
          </a:xfrm>
          <a:prstGeom prst="rect">
            <a:avLst/>
          </a:prstGeom>
          <a:noFill/>
          <a:ln/>
        </p:spPr>
        <p:txBody>
          <a:bodyPr wrap="square" lIns="0" tIns="0" rIns="0" bIns="0" rtlCol="0" anchor="t"/>
          <a:lstStyle/>
          <a:p>
            <a:pPr indent="0" marL="0">
              <a:buNone/>
            </a:pPr>
            <a:r>
              <a:rPr lang="en-US" sz="1100" dirty="0">
                <a:solidFill>
                  <a:srgbClr val="6B7684"/>
                </a:solidFill>
                <a:latin typeface="Calibri" pitchFamily="34" charset="0"/>
                <a:ea typeface="Calibri" pitchFamily="34" charset="-122"/>
                <a:cs typeface="Calibri" pitchFamily="34" charset="-120"/>
              </a:rPr>
              <a:t>Ningún registro de inventario fechado en 2025. Es un vacío de la serie.</a:t>
            </a:r>
            <a:endParaRPr lang="en-US" sz="1100" dirty="0"/>
          </a:p>
        </p:txBody>
      </p:sp>
      <p:sp>
        <p:nvSpPr>
          <p:cNvPr id="29" name="Shape 27"/>
          <p:cNvSpPr/>
          <p:nvPr/>
        </p:nvSpPr>
        <p:spPr>
          <a:xfrm>
            <a:off x="566928" y="5257800"/>
            <a:ext cx="11064240" cy="822960"/>
          </a:xfrm>
          <a:prstGeom prst="roundRect">
            <a:avLst>
              <a:gd name="adj" fmla="val 6667"/>
            </a:avLst>
          </a:prstGeom>
          <a:solidFill>
            <a:srgbClr val="E8F0FC"/>
          </a:solidFill>
          <a:ln w="12700">
            <a:solidFill>
              <a:srgbClr val="DDE4EE"/>
            </a:solidFill>
            <a:prstDash val="solid"/>
          </a:ln>
        </p:spPr>
      </p:sp>
      <p:sp>
        <p:nvSpPr>
          <p:cNvPr id="30" name="Text 28"/>
          <p:cNvSpPr/>
          <p:nvPr/>
        </p:nvSpPr>
        <p:spPr>
          <a:xfrm>
            <a:off x="804672" y="5376672"/>
            <a:ext cx="10607040" cy="594360"/>
          </a:xfrm>
          <a:prstGeom prst="rect">
            <a:avLst/>
          </a:prstGeom>
          <a:noFill/>
          <a:ln/>
        </p:spPr>
        <p:txBody>
          <a:bodyPr wrap="square" lIns="0" tIns="0" rIns="0" bIns="0" rtlCol="0" anchor="ctr"/>
          <a:lstStyle/>
          <a:p>
            <a:pPr indent="0" marL="0">
              <a:buNone/>
            </a:pPr>
            <a:r>
              <a:rPr lang="en-US" sz="1300" dirty="0">
                <a:solidFill>
                  <a:srgbClr val="16181D"/>
                </a:solidFill>
                <a:latin typeface="Calibri" pitchFamily="34" charset="0"/>
                <a:ea typeface="Calibri" pitchFamily="34" charset="-122"/>
                <a:cs typeface="Calibri" pitchFamily="34" charset="-120"/>
              </a:rPr>
              <a:t>Para las cuatro la estrategia es la misma: exclusión de la variable del conjunto de análisis y documentación explícita de la limitación en la ficha del dataset.</a:t>
            </a:r>
            <a:endParaRPr lang="en-US" sz="1300" dirty="0"/>
          </a:p>
        </p:txBody>
      </p:sp>
      <p:sp>
        <p:nvSpPr>
          <p:cNvPr id="31" name="Text 29"/>
          <p:cNvSpPr/>
          <p:nvPr/>
        </p:nvSpPr>
        <p:spPr>
          <a:xfrm>
            <a:off x="10820095" y="6181344"/>
            <a:ext cx="822960" cy="292608"/>
          </a:xfrm>
          <a:prstGeom prst="rect">
            <a:avLst/>
          </a:prstGeom>
          <a:noFill/>
          <a:ln/>
        </p:spPr>
        <p:txBody>
          <a:bodyPr wrap="square" lIns="0" tIns="0" rIns="0" bIns="0" rtlCol="0" anchor="ctr"/>
          <a:lstStyle/>
          <a:p>
            <a:pPr algn="r" indent="0" marL="0">
              <a:buNone/>
            </a:pPr>
            <a:r>
              <a:rPr lang="en-US" sz="1000" dirty="0">
                <a:solidFill>
                  <a:srgbClr val="6B7684"/>
                </a:solidFill>
                <a:latin typeface="Calibri" pitchFamily="34" charset="0"/>
                <a:ea typeface="Calibri" pitchFamily="34" charset="-122"/>
                <a:cs typeface="Calibri" pitchFamily="34" charset="-120"/>
              </a:rPr>
              <a:t>16 / 19</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493776"/>
            <a:ext cx="8229600" cy="256032"/>
          </a:xfrm>
          <a:prstGeom prst="rect">
            <a:avLst/>
          </a:prstGeom>
          <a:noFill/>
          <a:ln/>
        </p:spPr>
        <p:txBody>
          <a:bodyPr wrap="square" lIns="0" tIns="0" rIns="0" bIns="0" rtlCol="0" anchor="ctr"/>
          <a:lstStyle/>
          <a:p>
            <a:pPr indent="0" marL="0">
              <a:buNone/>
            </a:pPr>
            <a:r>
              <a:rPr lang="en-US" sz="1100" b="1" spc="220" kern="0" dirty="0">
                <a:solidFill>
                  <a:srgbClr val="1E2761"/>
                </a:solidFill>
                <a:latin typeface="Calibri" pitchFamily="34" charset="0"/>
                <a:ea typeface="Calibri" pitchFamily="34" charset="-122"/>
                <a:cs typeface="Calibri" pitchFamily="34" charset="-120"/>
              </a:rPr>
              <a:t>EL COMPROMISO</a:t>
            </a:r>
            <a:endParaRPr lang="en-US" sz="1100" dirty="0"/>
          </a:p>
        </p:txBody>
      </p:sp>
      <p:sp>
        <p:nvSpPr>
          <p:cNvPr id="3" name="Text 1"/>
          <p:cNvSpPr/>
          <p:nvPr/>
        </p:nvSpPr>
        <p:spPr>
          <a:xfrm>
            <a:off x="566928" y="786384"/>
            <a:ext cx="10424160" cy="749808"/>
          </a:xfrm>
          <a:prstGeom prst="rect">
            <a:avLst/>
          </a:prstGeom>
          <a:noFill/>
          <a:ln/>
        </p:spPr>
        <p:txBody>
          <a:bodyPr wrap="square" lIns="0" tIns="0" rIns="0" bIns="0" rtlCol="0" anchor="ctr"/>
          <a:lstStyle/>
          <a:p>
            <a:pPr indent="0" marL="0">
              <a:buNone/>
            </a:pPr>
            <a:r>
              <a:rPr lang="en-US" sz="3400" b="1" dirty="0">
                <a:solidFill>
                  <a:srgbClr val="16181D"/>
                </a:solidFill>
                <a:latin typeface="Cambria" pitchFamily="34" charset="0"/>
                <a:ea typeface="Cambria" pitchFamily="34" charset="-122"/>
                <a:cs typeface="Cambria" pitchFamily="34" charset="-120"/>
              </a:rPr>
              <a:t>En qué estado queda el dataset, y cómo se comprueba</a:t>
            </a:r>
            <a:endParaRPr lang="en-US" sz="3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2103120"/>
          <a:ext cx="7589520" cy="914400"/>
        </p:xfrm>
        <a:graphic>
          <a:graphicData uri="http://schemas.openxmlformats.org/drawingml/2006/table">
            <a:tbl>
              <a:tblPr/>
              <a:tblGrid>
                <a:gridCol w="3931920"/>
                <a:gridCol w="1051560"/>
                <a:gridCol w="1691640"/>
                <a:gridCol w="91440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Comprobación</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Hoy</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Meta Misión 2</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Semana</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1E2761"/>
                    </a:solidFill>
                  </a:tcPr>
                </a:tc>
              </a:tr>
              <a:tr h="347472">
                <a:tc>
                  <a:txBody>
                    <a:bodyPr/>
                    <a:lstStyle/>
                    <a:p>
                      <a:pPr indent="0" marL="0">
                        <a:buNone/>
                      </a:pPr>
                      <a:r>
                        <a:rPr lang="en-US" sz="1200" dirty="0">
                          <a:solidFill>
                            <a:srgbClr val="16181D"/>
                          </a:solidFill>
                          <a:latin typeface="Calibri" pitchFamily="34" charset="0"/>
                          <a:ea typeface="Calibri" pitchFamily="34" charset="-122"/>
                          <a:cs typeface="Calibri" pitchFamily="34" charset="-120"/>
                        </a:rPr>
                        <a:t>Pedidos duplicados</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B7684"/>
                          </a:solidFill>
                          <a:latin typeface="Calibri" pitchFamily="34" charset="0"/>
                          <a:ea typeface="Calibri" pitchFamily="34" charset="-122"/>
                          <a:cs typeface="Calibri" pitchFamily="34" charset="-120"/>
                        </a:rPr>
                        <a:t>20.000</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8449"/>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B7684"/>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16181D"/>
                          </a:solidFill>
                          <a:latin typeface="Calibri" pitchFamily="34" charset="0"/>
                          <a:ea typeface="Calibri" pitchFamily="34" charset="-122"/>
                          <a:cs typeface="Calibri" pitchFamily="34" charset="-120"/>
                        </a:rPr>
                        <a:t>Valores distintos en ciudad_tienda</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5F8FC"/>
                    </a:solidFill>
                  </a:tcPr>
                </a:tc>
                <a:tc>
                  <a:txBody>
                    <a:bodyPr/>
                    <a:lstStyle/>
                    <a:p>
                      <a:pPr algn="ctr" indent="0" marL="0">
                        <a:buNone/>
                      </a:pPr>
                      <a:r>
                        <a:rPr lang="en-US" sz="1200" dirty="0">
                          <a:solidFill>
                            <a:srgbClr val="6B7684"/>
                          </a:solidFill>
                          <a:latin typeface="Calibri" pitchFamily="34" charset="0"/>
                          <a:ea typeface="Calibri" pitchFamily="34" charset="-122"/>
                          <a:cs typeface="Calibri" pitchFamily="34" charset="-120"/>
                        </a:rPr>
                        <a:t>88</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5F8FC"/>
                    </a:solidFill>
                  </a:tcPr>
                </a:tc>
                <a:tc>
                  <a:txBody>
                    <a:bodyPr/>
                    <a:lstStyle/>
                    <a:p>
                      <a:pPr algn="ctr" indent="0" marL="0">
                        <a:buNone/>
                      </a:pPr>
                      <a:r>
                        <a:rPr lang="en-US" sz="1200" b="1" dirty="0">
                          <a:solidFill>
                            <a:srgbClr val="1E8449"/>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5F8FC"/>
                    </a:solidFill>
                  </a:tcPr>
                </a:tc>
                <a:tc>
                  <a:txBody>
                    <a:bodyPr/>
                    <a:lstStyle/>
                    <a:p>
                      <a:pPr algn="ctr" indent="0" marL="0">
                        <a:buNone/>
                      </a:pPr>
                      <a:r>
                        <a:rPr lang="en-US" sz="1200" dirty="0">
                          <a:solidFill>
                            <a:srgbClr val="6B7684"/>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5F8FC"/>
                    </a:solidFill>
                  </a:tcPr>
                </a:tc>
              </a:tr>
              <a:tr h="347472">
                <a:tc>
                  <a:txBody>
                    <a:bodyPr/>
                    <a:lstStyle/>
                    <a:p>
                      <a:pPr indent="0" marL="0">
                        <a:buNone/>
                      </a:pPr>
                      <a:r>
                        <a:rPr lang="en-US" sz="1200" dirty="0">
                          <a:solidFill>
                            <a:srgbClr val="16181D"/>
                          </a:solidFill>
                          <a:latin typeface="Calibri" pitchFamily="34" charset="0"/>
                          <a:ea typeface="Calibri" pitchFamily="34" charset="-122"/>
                          <a:cs typeface="Calibri" pitchFamily="34" charset="-120"/>
                        </a:rPr>
                        <a:t>Valores distintos en categoria_producto</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B7684"/>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8449"/>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B7684"/>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16181D"/>
                          </a:solidFill>
                          <a:latin typeface="Calibri" pitchFamily="34" charset="0"/>
                          <a:ea typeface="Calibri" pitchFamily="34" charset="-122"/>
                          <a:cs typeface="Calibri" pitchFamily="34" charset="-120"/>
                        </a:rPr>
                        <a:t>Pedidos con fecha posterior al corte</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5F8FC"/>
                    </a:solidFill>
                  </a:tcPr>
                </a:tc>
                <a:tc>
                  <a:txBody>
                    <a:bodyPr/>
                    <a:lstStyle/>
                    <a:p>
                      <a:pPr algn="ctr" indent="0" marL="0">
                        <a:buNone/>
                      </a:pPr>
                      <a:r>
                        <a:rPr lang="en-US" sz="1200" dirty="0">
                          <a:solidFill>
                            <a:srgbClr val="6B7684"/>
                          </a:solidFill>
                          <a:latin typeface="Calibri" pitchFamily="34" charset="0"/>
                          <a:ea typeface="Calibri" pitchFamily="34" charset="-122"/>
                          <a:cs typeface="Calibri" pitchFamily="34" charset="-120"/>
                        </a:rPr>
                        <a:t>16.485</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5F8FC"/>
                    </a:solidFill>
                  </a:tcPr>
                </a:tc>
                <a:tc>
                  <a:txBody>
                    <a:bodyPr/>
                    <a:lstStyle/>
                    <a:p>
                      <a:pPr algn="ctr" indent="0" marL="0">
                        <a:buNone/>
                      </a:pPr>
                      <a:r>
                        <a:rPr lang="en-US" sz="1200" b="1" dirty="0">
                          <a:solidFill>
                            <a:srgbClr val="1E8449"/>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5F8FC"/>
                    </a:solidFill>
                  </a:tcPr>
                </a:tc>
                <a:tc>
                  <a:txBody>
                    <a:bodyPr/>
                    <a:lstStyle/>
                    <a:p>
                      <a:pPr algn="ctr" indent="0" marL="0">
                        <a:buNone/>
                      </a:pPr>
                      <a:r>
                        <a:rPr lang="en-US" sz="1200" dirty="0">
                          <a:solidFill>
                            <a:srgbClr val="6B7684"/>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5F8FC"/>
                    </a:solidFill>
                  </a:tcPr>
                </a:tc>
              </a:tr>
              <a:tr h="347472">
                <a:tc>
                  <a:txBody>
                    <a:bodyPr/>
                    <a:lstStyle/>
                    <a:p>
                      <a:pPr indent="0" marL="0">
                        <a:buNone/>
                      </a:pPr>
                      <a:r>
                        <a:rPr lang="en-US" sz="1200" dirty="0">
                          <a:solidFill>
                            <a:srgbClr val="16181D"/>
                          </a:solidFill>
                          <a:latin typeface="Calibri" pitchFamily="34" charset="0"/>
                          <a:ea typeface="Calibri" pitchFamily="34" charset="-122"/>
                          <a:cs typeface="Calibri" pitchFamily="34" charset="-120"/>
                        </a:rPr>
                        <a:t>Ciudad y municipio DANE contradictorios</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B7684"/>
                          </a:solidFill>
                          <a:latin typeface="Calibri" pitchFamily="34" charset="0"/>
                          <a:ea typeface="Calibri" pitchFamily="34" charset="-122"/>
                          <a:cs typeface="Calibri" pitchFamily="34" charset="-120"/>
                        </a:rPr>
                        <a:t>42.405</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8449"/>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B7684"/>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16181D"/>
                          </a:solidFill>
                          <a:latin typeface="Calibri" pitchFamily="34" charset="0"/>
                          <a:ea typeface="Calibri" pitchFamily="34" charset="-122"/>
                          <a:cs typeface="Calibri" pitchFamily="34" charset="-120"/>
                        </a:rPr>
                        <a:t>Precios negativos o en el tope centinela</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5F8FC"/>
                    </a:solidFill>
                  </a:tcPr>
                </a:tc>
                <a:tc>
                  <a:txBody>
                    <a:bodyPr/>
                    <a:lstStyle/>
                    <a:p>
                      <a:pPr algn="ctr" indent="0" marL="0">
                        <a:buNone/>
                      </a:pPr>
                      <a:r>
                        <a:rPr lang="en-US" sz="1200" dirty="0">
                          <a:solidFill>
                            <a:srgbClr val="6B7684"/>
                          </a:solidFill>
                          <a:latin typeface="Calibri" pitchFamily="34" charset="0"/>
                          <a:ea typeface="Calibri" pitchFamily="34" charset="-122"/>
                          <a:cs typeface="Calibri" pitchFamily="34" charset="-120"/>
                        </a:rPr>
                        <a:t>25.793</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5F8FC"/>
                    </a:solidFill>
                  </a:tcPr>
                </a:tc>
                <a:tc>
                  <a:txBody>
                    <a:bodyPr/>
                    <a:lstStyle/>
                    <a:p>
                      <a:pPr algn="ctr" indent="0" marL="0">
                        <a:buNone/>
                      </a:pPr>
                      <a:r>
                        <a:rPr lang="en-US" sz="1200" b="1" dirty="0">
                          <a:solidFill>
                            <a:srgbClr val="1E8449"/>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5F8FC"/>
                    </a:solidFill>
                  </a:tcPr>
                </a:tc>
                <a:tc>
                  <a:txBody>
                    <a:bodyPr/>
                    <a:lstStyle/>
                    <a:p>
                      <a:pPr algn="ctr" indent="0" marL="0">
                        <a:buNone/>
                      </a:pPr>
                      <a:r>
                        <a:rPr lang="en-US" sz="1200" dirty="0">
                          <a:solidFill>
                            <a:srgbClr val="6B7684"/>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5F8FC"/>
                    </a:solidFill>
                  </a:tcPr>
                </a:tc>
              </a:tr>
              <a:tr h="347472">
                <a:tc>
                  <a:txBody>
                    <a:bodyPr/>
                    <a:lstStyle/>
                    <a:p>
                      <a:pPr indent="0" marL="0">
                        <a:buNone/>
                      </a:pPr>
                      <a:r>
                        <a:rPr lang="en-US" sz="1200" dirty="0">
                          <a:solidFill>
                            <a:srgbClr val="16181D"/>
                          </a:solidFill>
                          <a:latin typeface="Calibri" pitchFamily="34" charset="0"/>
                          <a:ea typeface="Calibri" pitchFamily="34" charset="-122"/>
                          <a:cs typeface="Calibri" pitchFamily="34" charset="-120"/>
                        </a:rPr>
                        <a:t>Pesos por encima de 100 kg</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B7684"/>
                          </a:solidFill>
                          <a:latin typeface="Calibri" pitchFamily="34" charset="0"/>
                          <a:ea typeface="Calibri" pitchFamily="34" charset="-122"/>
                          <a:cs typeface="Calibri" pitchFamily="34" charset="-120"/>
                        </a:rPr>
                        <a:t>32.045</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8449"/>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B7684"/>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6350" cap="flat" cmpd="sng" algn="ctr">
                      <a:solidFill>
                        <a:srgbClr val="DDE4EE"/>
                      </a:solidFill>
                      <a:prstDash val="solid"/>
                      <a:round/>
                      <a:headEnd type="none" w="med" len="med"/>
                      <a:tailEnd type="none" w="med" len="med"/>
                    </a:lnL>
                    <a:lnR w="6350" cap="flat" cmpd="sng" algn="ctr">
                      <a:solidFill>
                        <a:srgbClr val="DDE4EE"/>
                      </a:solidFill>
                      <a:prstDash val="solid"/>
                      <a:round/>
                      <a:headEnd type="none" w="med" len="med"/>
                      <a:tailEnd type="none" w="med" len="med"/>
                    </a:lnR>
                    <a:lnT w="6350" cap="flat" cmpd="sng" algn="ctr">
                      <a:solidFill>
                        <a:srgbClr val="DDE4EE"/>
                      </a:solidFill>
                      <a:prstDash val="solid"/>
                      <a:round/>
                      <a:headEnd type="none" w="med" len="med"/>
                      <a:tailEnd type="none" w="med" len="med"/>
                    </a:lnT>
                    <a:lnB w="6350" cap="flat" cmpd="sng" algn="ctr">
                      <a:solidFill>
                        <a:srgbClr val="DDE4EE"/>
                      </a:solidFill>
                      <a:prstDash val="solid"/>
                      <a:round/>
                      <a:headEnd type="none" w="med" len="med"/>
                      <a:tailEnd type="none" w="med" len="med"/>
                    </a:lnB>
                    <a:solidFill>
                      <a:srgbClr val="FFFFFF"/>
                    </a:solidFill>
                  </a:tcPr>
                </a:tc>
              </a:tr>
            </a:tbl>
          </a:graphicData>
        </a:graphic>
      </p:graphicFrame>
      <p:sp>
        <p:nvSpPr>
          <p:cNvPr id="5" name="Shape 2"/>
          <p:cNvSpPr/>
          <p:nvPr/>
        </p:nvSpPr>
        <p:spPr>
          <a:xfrm>
            <a:off x="8412480" y="2103120"/>
            <a:ext cx="3200400" cy="3127248"/>
          </a:xfrm>
          <a:prstGeom prst="roundRect">
            <a:avLst>
              <a:gd name="adj" fmla="val 1754"/>
            </a:avLst>
          </a:prstGeom>
          <a:solidFill>
            <a:srgbClr val="1E2761"/>
          </a:solidFill>
          <a:ln w="12700">
            <a:solidFill>
              <a:srgbClr val="1E2761"/>
            </a:solidFill>
            <a:prstDash val="solid"/>
          </a:ln>
        </p:spPr>
      </p:sp>
      <p:sp>
        <p:nvSpPr>
          <p:cNvPr id="6" name="Text 3"/>
          <p:cNvSpPr/>
          <p:nvPr/>
        </p:nvSpPr>
        <p:spPr>
          <a:xfrm>
            <a:off x="8641080" y="2331720"/>
            <a:ext cx="2743200" cy="269748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De confiabilidad
</a:t>
            </a:r>
            <a:pPr indent="0" marL="0">
              <a:buNone/>
            </a:pPr>
            <a:r>
              <a:rPr lang="en-US" sz="2600" b="1" dirty="0">
                <a:solidFill>
                  <a:srgbClr val="FFFFFF"/>
                </a:solidFill>
                <a:latin typeface="Calibri" pitchFamily="34" charset="0"/>
                <a:ea typeface="Calibri" pitchFamily="34" charset="-122"/>
                <a:cs typeface="Calibri" pitchFamily="34" charset="-120"/>
              </a:rPr>
              <a:t>BAJA a MEDIA
</a:t>
            </a:r>
            <a:pPr indent="0" marL="0">
              <a:buNone/>
            </a:pPr>
            <a:r>
              <a:rPr lang="en-US" sz="1250" dirty="0">
                <a:solidFill>
                  <a:srgbClr val="CADCFC"/>
                </a:solidFill>
                <a:latin typeface="Calibri" pitchFamily="34" charset="0"/>
                <a:ea typeface="Calibri" pitchFamily="34" charset="-122"/>
                <a:cs typeface="Calibri" pitchFamily="34" charset="-120"/>
              </a:rPr>
              <a:t>31 de los 35 problemas son tratables con las técnicas de las Semanas 6 a 10. Los otros 4 quedan documentados como limitación conocida.</a:t>
            </a:r>
            <a:endParaRPr lang="en-US" sz="1400" dirty="0"/>
          </a:p>
        </p:txBody>
      </p:sp>
      <p:sp>
        <p:nvSpPr>
          <p:cNvPr id="7" name="Text 4"/>
          <p:cNvSpPr/>
          <p:nvPr/>
        </p:nvSpPr>
        <p:spPr>
          <a:xfrm>
            <a:off x="566928" y="6181344"/>
            <a:ext cx="9509760" cy="292608"/>
          </a:xfrm>
          <a:prstGeom prst="rect">
            <a:avLst/>
          </a:prstGeom>
          <a:noFill/>
          <a:ln/>
        </p:spPr>
        <p:txBody>
          <a:bodyPr wrap="square" lIns="0" tIns="0" rIns="0" bIns="0" rtlCol="0" anchor="ctr"/>
          <a:lstStyle/>
          <a:p>
            <a:pPr indent="0" marL="0">
              <a:buNone/>
            </a:pPr>
            <a:r>
              <a:rPr lang="en-US" sz="1000" dirty="0">
                <a:solidFill>
                  <a:srgbClr val="6B7684"/>
                </a:solidFill>
                <a:latin typeface="Calibri" pitchFamily="34" charset="0"/>
                <a:ea typeface="Calibri" pitchFamily="34" charset="-122"/>
                <a:cs typeface="Calibri" pitchFamily="34" charset="-120"/>
              </a:rPr>
              <a:t>Cada fila de esta tabla se comprueba con una consulta sobre el dataset resultante</a:t>
            </a:r>
            <a:endParaRPr lang="en-US" sz="1000" dirty="0"/>
          </a:p>
        </p:txBody>
      </p:sp>
      <p:sp>
        <p:nvSpPr>
          <p:cNvPr id="8" name="Text 5"/>
          <p:cNvSpPr/>
          <p:nvPr/>
        </p:nvSpPr>
        <p:spPr>
          <a:xfrm>
            <a:off x="10820095" y="6181344"/>
            <a:ext cx="822960" cy="292608"/>
          </a:xfrm>
          <a:prstGeom prst="rect">
            <a:avLst/>
          </a:prstGeom>
          <a:noFill/>
          <a:ln/>
        </p:spPr>
        <p:txBody>
          <a:bodyPr wrap="square" lIns="0" tIns="0" rIns="0" bIns="0" rtlCol="0" anchor="ctr"/>
          <a:lstStyle/>
          <a:p>
            <a:pPr algn="r" indent="0" marL="0">
              <a:buNone/>
            </a:pPr>
            <a:r>
              <a:rPr lang="en-US" sz="1000" dirty="0">
                <a:solidFill>
                  <a:srgbClr val="6B7684"/>
                </a:solidFill>
                <a:latin typeface="Calibri" pitchFamily="34" charset="0"/>
                <a:ea typeface="Calibri" pitchFamily="34" charset="-122"/>
                <a:cs typeface="Calibri" pitchFamily="34" charset="-120"/>
              </a:rPr>
              <a:t>17 / 19</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7863840" y="-2194560"/>
            <a:ext cx="6583680" cy="6583680"/>
          </a:xfrm>
          <a:prstGeom prst="ellipse">
            <a:avLst/>
          </a:prstGeom>
          <a:solidFill>
            <a:srgbClr val="2C3A73">
              <a:alpha val="45000"/>
            </a:srgbClr>
          </a:solidFill>
          <a:ln w="12700">
            <a:solidFill>
              <a:srgbClr val="2C3A73">
                <a:alpha val="0"/>
              </a:srgbClr>
            </a:solidFill>
            <a:prstDash val="solid"/>
          </a:ln>
        </p:spPr>
      </p:sp>
      <p:sp>
        <p:nvSpPr>
          <p:cNvPr id="3" name="Text 1"/>
          <p:cNvSpPr/>
          <p:nvPr/>
        </p:nvSpPr>
        <p:spPr>
          <a:xfrm>
            <a:off x="822960" y="1280160"/>
            <a:ext cx="7315200" cy="274320"/>
          </a:xfrm>
          <a:prstGeom prst="rect">
            <a:avLst/>
          </a:prstGeom>
          <a:noFill/>
          <a:ln/>
        </p:spPr>
        <p:txBody>
          <a:bodyPr wrap="square" lIns="0" tIns="0" rIns="0" bIns="0" rtlCol="0" anchor="ctr"/>
          <a:lstStyle/>
          <a:p>
            <a:pPr indent="0" marL="0">
              <a:buNone/>
            </a:pPr>
            <a:r>
              <a:rPr lang="en-US" sz="1200" b="1" spc="300" kern="0" dirty="0">
                <a:solidFill>
                  <a:srgbClr val="CADCFC"/>
                </a:solidFill>
                <a:latin typeface="Calibri" pitchFamily="34" charset="0"/>
                <a:ea typeface="Calibri" pitchFamily="34" charset="-122"/>
                <a:cs typeface="Calibri" pitchFamily="34" charset="-120"/>
              </a:rPr>
              <a:t>RECOMENDACIÓN AL COMITÉ</a:t>
            </a:r>
            <a:endParaRPr lang="en-US" sz="1200" dirty="0"/>
          </a:p>
        </p:txBody>
      </p:sp>
      <p:sp>
        <p:nvSpPr>
          <p:cNvPr id="4" name="Text 2"/>
          <p:cNvSpPr/>
          <p:nvPr/>
        </p:nvSpPr>
        <p:spPr>
          <a:xfrm>
            <a:off x="822960" y="1828800"/>
            <a:ext cx="7863840" cy="1920240"/>
          </a:xfrm>
          <a:prstGeom prst="rect">
            <a:avLst/>
          </a:prstGeom>
          <a:noFill/>
          <a:ln/>
        </p:spPr>
        <p:txBody>
          <a:bodyPr wrap="square" lIns="0" tIns="0" rIns="0" bIns="0" rtlCol="0" anchor="ctr"/>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No alimentar ningún modelo</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de decisión con este dataset</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hasta ejecutar la Misión 2</a:t>
            </a:r>
            <a:endParaRPr lang="en-US" sz="3200" dirty="0"/>
          </a:p>
        </p:txBody>
      </p:sp>
      <p:sp>
        <p:nvSpPr>
          <p:cNvPr id="5" name="Shape 3"/>
          <p:cNvSpPr/>
          <p:nvPr/>
        </p:nvSpPr>
        <p:spPr>
          <a:xfrm>
            <a:off x="822960" y="4114800"/>
            <a:ext cx="4937760" cy="1463040"/>
          </a:xfrm>
          <a:prstGeom prst="roundRect">
            <a:avLst>
              <a:gd name="adj" fmla="val 3750"/>
            </a:avLst>
          </a:prstGeom>
          <a:solidFill>
            <a:srgbClr val="2C3A73"/>
          </a:solidFill>
          <a:ln w="12700">
            <a:solidFill>
              <a:srgbClr val="3C4C8A"/>
            </a:solidFill>
            <a:prstDash val="solid"/>
          </a:ln>
        </p:spPr>
      </p:sp>
      <p:sp>
        <p:nvSpPr>
          <p:cNvPr id="6" name="Text 4"/>
          <p:cNvSpPr/>
          <p:nvPr/>
        </p:nvSpPr>
        <p:spPr>
          <a:xfrm>
            <a:off x="1097280" y="4279392"/>
            <a:ext cx="4389120" cy="320040"/>
          </a:xfrm>
          <a:prstGeom prst="rect">
            <a:avLst/>
          </a:prstGeom>
          <a:noFill/>
          <a:ln/>
        </p:spPr>
        <p:txBody>
          <a:bodyPr wrap="square" lIns="0" tIns="0" rIns="0" bIns="0" rtlCol="0" anchor="ctr"/>
          <a:lstStyle/>
          <a:p>
            <a:pPr indent="0" marL="0">
              <a:buNone/>
            </a:pPr>
            <a:r>
              <a:rPr lang="en-US" sz="1400" b="1" dirty="0">
                <a:solidFill>
                  <a:srgbClr val="9FD4B4"/>
                </a:solidFill>
                <a:latin typeface="Calibri" pitchFamily="34" charset="0"/>
                <a:ea typeface="Calibri" pitchFamily="34" charset="-122"/>
                <a:cs typeface="Calibri" pitchFamily="34" charset="-120"/>
              </a:rPr>
              <a:t>Sirve hoy</a:t>
            </a:r>
            <a:endParaRPr lang="en-US" sz="1400" dirty="0"/>
          </a:p>
        </p:txBody>
      </p:sp>
      <p:sp>
        <p:nvSpPr>
          <p:cNvPr id="7" name="Text 5"/>
          <p:cNvSpPr/>
          <p:nvPr/>
        </p:nvSpPr>
        <p:spPr>
          <a:xfrm>
            <a:off x="1097280" y="4617720"/>
            <a:ext cx="4389120" cy="822960"/>
          </a:xfrm>
          <a:prstGeom prst="rect">
            <a:avLst/>
          </a:prstGeom>
          <a:noFill/>
          <a:ln/>
        </p:spPr>
        <p:txBody>
          <a:bodyPr wrap="square" lIns="0" tIns="0" rIns="0" bIns="0" rtlCol="0" anchor="t"/>
          <a:lstStyle/>
          <a:p>
            <a:pPr indent="0" marL="0">
              <a:buNone/>
            </a:pPr>
            <a:r>
              <a:rPr lang="en-US" sz="1250" dirty="0">
                <a:solidFill>
                  <a:srgbClr val="CADCFC"/>
                </a:solidFill>
                <a:latin typeface="Calibri" pitchFamily="34" charset="0"/>
                <a:ea typeface="Calibri" pitchFamily="34" charset="-122"/>
                <a:cs typeface="Calibri" pitchFamily="34" charset="-120"/>
              </a:rPr>
              <a:t>Dimensionar volumen de pedidos y explorar patrones gruesos por categoría y canal</a:t>
            </a:r>
            <a:endParaRPr lang="en-US" sz="1250" dirty="0"/>
          </a:p>
        </p:txBody>
      </p:sp>
      <p:sp>
        <p:nvSpPr>
          <p:cNvPr id="8" name="Shape 6"/>
          <p:cNvSpPr/>
          <p:nvPr/>
        </p:nvSpPr>
        <p:spPr>
          <a:xfrm>
            <a:off x="6217920" y="4114800"/>
            <a:ext cx="4937760" cy="1463040"/>
          </a:xfrm>
          <a:prstGeom prst="roundRect">
            <a:avLst>
              <a:gd name="adj" fmla="val 3750"/>
            </a:avLst>
          </a:prstGeom>
          <a:solidFill>
            <a:srgbClr val="2C3A73"/>
          </a:solidFill>
          <a:ln w="12700">
            <a:solidFill>
              <a:srgbClr val="3C4C8A"/>
            </a:solidFill>
            <a:prstDash val="solid"/>
          </a:ln>
        </p:spPr>
      </p:sp>
      <p:sp>
        <p:nvSpPr>
          <p:cNvPr id="9" name="Text 7"/>
          <p:cNvSpPr/>
          <p:nvPr/>
        </p:nvSpPr>
        <p:spPr>
          <a:xfrm>
            <a:off x="6492240" y="4279392"/>
            <a:ext cx="4389120" cy="320040"/>
          </a:xfrm>
          <a:prstGeom prst="rect">
            <a:avLst/>
          </a:prstGeom>
          <a:noFill/>
          <a:ln/>
        </p:spPr>
        <p:txBody>
          <a:bodyPr wrap="square" lIns="0" tIns="0" rIns="0" bIns="0" rtlCol="0" anchor="ctr"/>
          <a:lstStyle/>
          <a:p>
            <a:pPr indent="0" marL="0">
              <a:buNone/>
            </a:pPr>
            <a:r>
              <a:rPr lang="en-US" sz="1400" b="1" dirty="0">
                <a:solidFill>
                  <a:srgbClr val="F0A9A2"/>
                </a:solidFill>
                <a:latin typeface="Calibri" pitchFamily="34" charset="0"/>
                <a:ea typeface="Calibri" pitchFamily="34" charset="-122"/>
                <a:cs typeface="Calibri" pitchFamily="34" charset="-120"/>
              </a:rPr>
              <a:t>No sirve todavía</a:t>
            </a:r>
            <a:endParaRPr lang="en-US" sz="1400" dirty="0"/>
          </a:p>
        </p:txBody>
      </p:sp>
      <p:sp>
        <p:nvSpPr>
          <p:cNvPr id="10" name="Text 8"/>
          <p:cNvSpPr/>
          <p:nvPr/>
        </p:nvSpPr>
        <p:spPr>
          <a:xfrm>
            <a:off x="6492240" y="4617720"/>
            <a:ext cx="4389120" cy="822960"/>
          </a:xfrm>
          <a:prstGeom prst="rect">
            <a:avLst/>
          </a:prstGeom>
          <a:noFill/>
          <a:ln/>
        </p:spPr>
        <p:txBody>
          <a:bodyPr wrap="square" lIns="0" tIns="0" rIns="0" bIns="0" rtlCol="0" anchor="t"/>
          <a:lstStyle/>
          <a:p>
            <a:pPr indent="0" marL="0">
              <a:buNone/>
            </a:pPr>
            <a:r>
              <a:rPr lang="en-US" sz="1250" dirty="0">
                <a:solidFill>
                  <a:srgbClr val="CADCFC"/>
                </a:solidFill>
                <a:latin typeface="Calibri" pitchFamily="34" charset="0"/>
                <a:ea typeface="Calibri" pitchFamily="34" charset="-122"/>
                <a:cs typeface="Calibri" pitchFamily="34" charset="-120"/>
              </a:rPr>
              <a:t>Reportar cifras monetarias, segmentar por perfil demográfico, medir fuga o entrenar modelos</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2194560"/>
            <a:ext cx="10515600" cy="109728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Gracias</a:t>
            </a:r>
            <a:endParaRPr lang="en-US" sz="4600" dirty="0"/>
          </a:p>
        </p:txBody>
      </p:sp>
      <p:sp>
        <p:nvSpPr>
          <p:cNvPr id="3" name="Text 1"/>
          <p:cNvSpPr/>
          <p:nvPr/>
        </p:nvSpPr>
        <p:spPr>
          <a:xfrm>
            <a:off x="822960" y="3291840"/>
            <a:ext cx="10515600" cy="365760"/>
          </a:xfrm>
          <a:prstGeom prst="rect">
            <a:avLst/>
          </a:prstGeom>
          <a:noFill/>
          <a:ln/>
        </p:spPr>
        <p:txBody>
          <a:bodyPr wrap="square" lIns="0" tIns="0" rIns="0" bIns="0"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NovaMarket · Auditoría de calidad de datos · Grupo 05</a:t>
            </a:r>
            <a:endParaRPr lang="en-US" sz="1600" dirty="0"/>
          </a:p>
        </p:txBody>
      </p:sp>
      <p:sp>
        <p:nvSpPr>
          <p:cNvPr id="4" name="Text 2"/>
          <p:cNvSpPr/>
          <p:nvPr/>
        </p:nvSpPr>
        <p:spPr>
          <a:xfrm>
            <a:off x="822960" y="4114800"/>
            <a:ext cx="10515600" cy="320040"/>
          </a:xfrm>
          <a:prstGeom prst="rect">
            <a:avLst/>
          </a:prstGeom>
          <a:noFill/>
          <a:ln/>
        </p:spPr>
        <p:txBody>
          <a:bodyPr wrap="square" lIns="0" tIns="0" rIns="0" bIns="0" rtlCol="0" anchor="ctr"/>
          <a:lstStyle/>
          <a:p>
            <a:pPr algn="ctr" indent="0" marL="0">
              <a:buNone/>
            </a:pPr>
            <a:r>
              <a:rPr lang="en-US" sz="1300" dirty="0">
                <a:solidFill>
                  <a:srgbClr val="9BB0D4"/>
                </a:solidFill>
                <a:latin typeface="Calibri" pitchFamily="34" charset="0"/>
                <a:ea typeface="Calibri" pitchFamily="34" charset="-122"/>
                <a:cs typeface="Calibri" pitchFamily="34" charset="-120"/>
              </a:rPr>
              <a:t>María Andrea Torres · Ricardo Borja · Gabriel Murillo Velandia · Laura Marcela Gómez</a:t>
            </a:r>
            <a:endParaRPr lang="en-US" sz="1300" dirty="0"/>
          </a:p>
        </p:txBody>
      </p:sp>
      <p:sp>
        <p:nvSpPr>
          <p:cNvPr id="5" name="Text 3"/>
          <p:cNvSpPr/>
          <p:nvPr/>
        </p:nvSpPr>
        <p:spPr>
          <a:xfrm>
            <a:off x="822960" y="5120640"/>
            <a:ext cx="10515600" cy="320040"/>
          </a:xfrm>
          <a:prstGeom prst="rect">
            <a:avLst/>
          </a:prstGeom>
          <a:noFill/>
          <a:ln/>
        </p:spPr>
        <p:txBody>
          <a:bodyPr wrap="square" lIns="0" tIns="0" rIns="0" bIns="0" rtlCol="0" anchor="ctr"/>
          <a:lstStyle/>
          <a:p>
            <a:pPr algn="ctr" indent="0" marL="0">
              <a:buNone/>
            </a:pPr>
            <a:r>
              <a:rPr lang="en-US" sz="1050" dirty="0">
                <a:solidFill>
                  <a:srgbClr val="7C90B5"/>
                </a:solidFill>
                <a:latin typeface="Calibri" pitchFamily="34" charset="0"/>
                <a:ea typeface="Calibri" pitchFamily="34" charset="-122"/>
                <a:cs typeface="Calibri" pitchFamily="34" charset="-120"/>
              </a:rPr>
              <a:t>Documentos de soporte:  S05_PD_Grupo05_InformeCalidadDatos.pdf  ·  S05_PD_Grupo05_PlanSaneamiento.pdf  ·  S05_PD_Grupo05_CatalogoProblemas.xlsx</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2026-08-18T19:05:10Z</dcterms:created>
  <dcterms:modified xsi:type="dcterms:W3CDTF">2026-08-18T19:05:10Z</dcterms:modified>
</cp:coreProperties>
</file>